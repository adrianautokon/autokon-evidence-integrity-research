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42255" y="457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600" kern="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BANK PITCH · EVIDENCE INTEGRITY R&amp;D · V1.0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AutoKon</a:t>
            </a:r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.id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7941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PROVE THE PHOTO IS REAL · TAKEN NOW · OF THE UNIT IT CLAIMS TO BE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2468880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400" b="1" spc="-200" kern="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Six Pillars to make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548640" y="3337560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400" b="1" spc="-200" kern="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AutoKon's</a:t>
            </a:r>
            <a:pPr indent="0" marL="0">
              <a:buNone/>
            </a:pPr>
            <a:r>
              <a:rPr lang="en-US" sz="6400" b="1" spc="-200" kern="0" dirty="0">
                <a:solidFill>
                  <a:srgbClr val="2563E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evidence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548640" y="4206240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400" b="1" spc="-200" kern="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stand up to</a:t>
            </a:r>
            <a:pPr indent="0" marL="0">
              <a:buNone/>
            </a:pPr>
            <a:r>
              <a:rPr lang="en-US" sz="6400" b="1" spc="-200" kern="0" dirty="0">
                <a:solidFill>
                  <a:srgbClr val="F794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bank scrutiny.</a:t>
            </a:r>
            <a:endParaRPr lang="en-US" sz="6400" dirty="0"/>
          </a:p>
        </p:txBody>
      </p:sp>
      <p:sp>
        <p:nvSpPr>
          <p:cNvPr id="8" name="Shape 6"/>
          <p:cNvSpPr/>
          <p:nvPr/>
        </p:nvSpPr>
        <p:spPr>
          <a:xfrm>
            <a:off x="548640" y="5760720"/>
            <a:ext cx="11094415" cy="914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5897880"/>
            <a:ext cx="27736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AUTHORS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48640" y="6126480"/>
            <a:ext cx="25907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Adrian + Claude Cowork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322244" y="5897880"/>
            <a:ext cx="27736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BUILDS ON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322244" y="6126480"/>
            <a:ext cx="25907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Dickson evidence integrity (May 1)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95848" y="5897880"/>
            <a:ext cx="27736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FOR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095848" y="6126480"/>
            <a:ext cx="25907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Dickson · Faishal · BSN/BTN pitch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869451" y="5897880"/>
            <a:ext cx="27736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DATE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869451" y="6126480"/>
            <a:ext cx="25907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May 1,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64748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 · THE CHALLENGE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AutoKon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.id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545775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 / 18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1109441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spc="-100" kern="0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Banks need defensible proof. The current pipeline has a single trust surface.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548640" y="2743200"/>
            <a:ext cx="5364328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743200"/>
            <a:ext cx="73152" cy="32004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3017520"/>
            <a:ext cx="4815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EF444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TODAY · STRUCTURAL FRAUD GAPS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2960" y="3520440"/>
            <a:ext cx="48156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Photo recycling and metadata manipulation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3931920"/>
            <a:ext cx="48156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Adjacent-unit confusion (FLPP 6m grid)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4343400"/>
            <a:ext cx="48156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Single Claude read = entire trust surface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" y="4754880"/>
            <a:ext cx="48156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No cross-checking layer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5166360"/>
            <a:ext cx="48156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Indonesian field reality breaks naive GPS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78728" y="2743200"/>
            <a:ext cx="5364328" cy="32004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78728" y="2743200"/>
            <a:ext cx="73152" cy="3200400"/>
          </a:xfrm>
          <a:prstGeom prst="rect">
            <a:avLst/>
          </a:prstGeom>
          <a:solidFill>
            <a:srgbClr val="F7941D"/>
          </a:solidFill>
          <a:ln w="12700">
            <a:solidFill>
              <a:srgbClr val="F7941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53048" y="3017520"/>
            <a:ext cx="4815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F7941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WHAT BANKS ASK · 6 QUESTIONS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553048" y="3520440"/>
            <a:ext cx="4815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Is this photo real? (Authenticity)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553048" y="3886200"/>
            <a:ext cx="4815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Is the submitter who they claim? (Identity)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553048" y="4251960"/>
            <a:ext cx="4815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Is this the actual unit? (Place)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553048" y="4617720"/>
            <a:ext cx="4815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Was this captured now? (Time)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553048" y="4983480"/>
            <a:ext cx="4815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Is the audit trail tamper-proof? (Custody)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553048" y="5349240"/>
            <a:ext cx="4815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Do you trust other than your own software? (Independent)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64748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 · THE FRAMEWORK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AutoKon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.id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545775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 / 18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spc="-100" kern="0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Six pillars of trust. One bank question per pillar.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178308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Reorganized from Dickson's 10-layer engineering architecture into 6 audience-first pillars that map directly to bank concerns. 35 items across all pillars; 100+ proposed solutions.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3576218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743200"/>
            <a:ext cx="3576218" cy="3657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743200"/>
            <a:ext cx="31190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PILLAR 01 · 6 ITEMS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77240" y="3246120"/>
            <a:ext cx="31190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spc="-50" kern="0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Authenticity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77240" y="3749040"/>
            <a:ext cx="31190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 the photo real?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307738" y="2743200"/>
            <a:ext cx="3576218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07738" y="2743200"/>
            <a:ext cx="3576218" cy="365760"/>
          </a:xfrm>
          <a:prstGeom prst="rect">
            <a:avLst/>
          </a:prstGeom>
          <a:solidFill>
            <a:srgbClr val="F7941D"/>
          </a:solidFill>
          <a:ln w="12700">
            <a:solidFill>
              <a:srgbClr val="F7941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36338" y="2743200"/>
            <a:ext cx="31190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PILLAR 02 · 5 ITEMS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36338" y="3246120"/>
            <a:ext cx="31190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spc="-50" kern="0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Identity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536338" y="3749040"/>
            <a:ext cx="31190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Who submitted it?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066837" y="2743200"/>
            <a:ext cx="3576218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66837" y="2743200"/>
            <a:ext cx="3576218" cy="365760"/>
          </a:xfrm>
          <a:prstGeom prst="rect">
            <a:avLst/>
          </a:prstGeom>
          <a:solidFill>
            <a:srgbClr val="FF7426"/>
          </a:solidFill>
          <a:ln w="12700">
            <a:solidFill>
              <a:srgbClr val="FF742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95437" y="2743200"/>
            <a:ext cx="31190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PILLAR 03 · 7 ITEMS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295437" y="3246120"/>
            <a:ext cx="31190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spc="-50" kern="0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Place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8295437" y="3749040"/>
            <a:ext cx="31190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 this the right unit?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4709160"/>
            <a:ext cx="3576218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" y="4709160"/>
            <a:ext cx="3576218" cy="36576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4709160"/>
            <a:ext cx="31190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PILLAR 04 · 6 ITEMS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77240" y="5212080"/>
            <a:ext cx="31190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spc="-50" kern="0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Time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777240" y="5715000"/>
            <a:ext cx="31190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Was it captured now?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307738" y="4709160"/>
            <a:ext cx="3576218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307738" y="4709160"/>
            <a:ext cx="3576218" cy="36576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36338" y="4709160"/>
            <a:ext cx="31190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PILLAR 05 · 6 ITEMS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536338" y="5212080"/>
            <a:ext cx="31190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spc="-50" kern="0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Chain of Custody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4536338" y="5715000"/>
            <a:ext cx="31190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Tamper-proof?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8066837" y="4709160"/>
            <a:ext cx="3576218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066837" y="4709160"/>
            <a:ext cx="3576218" cy="36576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295437" y="4709160"/>
            <a:ext cx="31190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PILLAR 06 · 5 ITEMS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295437" y="5212080"/>
            <a:ext cx="31190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spc="-50" kern="0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Independent Verification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8295437" y="5715000"/>
            <a:ext cx="31190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External cross-check?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64748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 · PILLAR 01 · AUTHENTICITY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AutoKon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.id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545775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 / 18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spc="-100" kern="0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Authenticity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"Is the photo real, or is it fabricated, edited, or AI-generated?"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423160"/>
            <a:ext cx="11094415" cy="581863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423160"/>
            <a:ext cx="73152" cy="581863"/>
          </a:xfrm>
          <a:prstGeom prst="rect">
            <a:avLst/>
          </a:prstGeom>
          <a:solidFill>
            <a:srgbClr val="22C55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423160"/>
            <a:ext cx="640080" cy="5818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1.1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554480" y="2423160"/>
            <a:ext cx="5029200" cy="5818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Photo recycling detection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675120" y="2423160"/>
            <a:ext cx="4572000" cy="5818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pHash + deep-learning embedding · Dickson's L3 baseline + cross-project layer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0728655" y="2537003"/>
            <a:ext cx="777240" cy="347853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728655" y="2537003"/>
            <a:ext cx="777240" cy="3478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SHIPPED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48640" y="3055620"/>
            <a:ext cx="11094415" cy="581863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3055620"/>
            <a:ext cx="73152" cy="581863"/>
          </a:xfrm>
          <a:prstGeom prst="rect">
            <a:avLst/>
          </a:prstGeom>
          <a:solidFill>
            <a:srgbClr val="94A3B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3055620"/>
            <a:ext cx="640080" cy="5818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1.2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554480" y="3055620"/>
            <a:ext cx="5029200" cy="5818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Cross-photo consistency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675120" y="3055620"/>
            <a:ext cx="4572000" cy="5818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Time-spread + shadow direction + Claude batch-check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3688080"/>
            <a:ext cx="11094415" cy="581863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3688080"/>
            <a:ext cx="73152" cy="581863"/>
          </a:xfrm>
          <a:prstGeom prst="rect">
            <a:avLst/>
          </a:prstGeom>
          <a:solidFill>
            <a:srgbClr val="94A3B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3688080"/>
            <a:ext cx="640080" cy="5818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1.3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554480" y="3688080"/>
            <a:ext cx="5029200" cy="5818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Edit/Photoshop forgery (ELA)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675120" y="3688080"/>
            <a:ext cx="4572000" cy="5818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ELA + multi-model AI ensemble — 'as an AI tech company we should enable this'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4320540"/>
            <a:ext cx="11094415" cy="581863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8640" y="4320540"/>
            <a:ext cx="73152" cy="581863"/>
          </a:xfrm>
          <a:prstGeom prst="rect">
            <a:avLst/>
          </a:prstGeom>
          <a:solidFill>
            <a:srgbClr val="94A3B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2960" y="4320540"/>
            <a:ext cx="640080" cy="5818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1.4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554480" y="4320540"/>
            <a:ext cx="5029200" cy="5818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AI-generated photo detection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675120" y="4320540"/>
            <a:ext cx="4572000" cy="5818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JAKI Pemprov DKI Gemini scandal proof point — must address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48640" y="4953000"/>
            <a:ext cx="11094415" cy="581863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48640" y="4953000"/>
            <a:ext cx="73152" cy="581863"/>
          </a:xfrm>
          <a:prstGeom prst="rect">
            <a:avLst/>
          </a:prstGeom>
          <a:solidFill>
            <a:srgbClr val="22C55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2960" y="4953000"/>
            <a:ext cx="640080" cy="5818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1.5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554480" y="4953000"/>
            <a:ext cx="5029200" cy="5818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Trusted-source overlay validation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675120" y="4953000"/>
            <a:ext cx="4572000" cy="5818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Whitelisted timestamp camera + custom AutoKon app (PILOT-30 commitment)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10728655" y="5066843"/>
            <a:ext cx="777240" cy="347853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728655" y="5066843"/>
            <a:ext cx="777240" cy="3478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SHIPPED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548640" y="5585460"/>
            <a:ext cx="11094415" cy="581863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48640" y="5585460"/>
            <a:ext cx="73152" cy="581863"/>
          </a:xfrm>
          <a:prstGeom prst="rect">
            <a:avLst/>
          </a:prstGeom>
          <a:solidFill>
            <a:srgbClr val="F7941D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22960" y="5585460"/>
            <a:ext cx="640080" cy="5818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1.6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1554480" y="5585460"/>
            <a:ext cx="5029200" cy="5818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Low-tech consumer-app fraud detection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6675120" y="5585460"/>
            <a:ext cx="4572000" cy="5818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Word export · IG Story · screenshots · photo-of-print · highest leverage NEW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0728655" y="5699303"/>
            <a:ext cx="777240" cy="347853"/>
          </a:xfrm>
          <a:prstGeom prst="rect">
            <a:avLst/>
          </a:prstGeom>
          <a:solidFill>
            <a:srgbClr val="F7941D"/>
          </a:solidFill>
          <a:ln w="12700">
            <a:solidFill>
              <a:srgbClr val="F7941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0728655" y="5699303"/>
            <a:ext cx="777240" cy="3478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NEW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64748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 · PILLAR 02 · IDENTITY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AutoKon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.id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545775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 / 18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spc="-100" kern="0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Identity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"Is the person submitting this who they claim to be?"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423160"/>
            <a:ext cx="11094415" cy="6982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423160"/>
            <a:ext cx="73152" cy="698236"/>
          </a:xfrm>
          <a:prstGeom prst="rect">
            <a:avLst/>
          </a:prstGeom>
          <a:solidFill>
            <a:srgbClr val="22C55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423160"/>
            <a:ext cx="640080" cy="6982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2.1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554480" y="2423160"/>
            <a:ext cx="5029200" cy="6982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Phone-number binding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675120" y="2423160"/>
            <a:ext cx="4572000" cy="6982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Phone whitelist · 2FA OTP · WhatsApp Business API · periodic re-auth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0728655" y="2559771"/>
            <a:ext cx="777240" cy="41742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728655" y="2559771"/>
            <a:ext cx="777240" cy="417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SHIPPED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48640" y="3182112"/>
            <a:ext cx="11094415" cy="6982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3182112"/>
            <a:ext cx="73152" cy="698236"/>
          </a:xfrm>
          <a:prstGeom prst="rect">
            <a:avLst/>
          </a:prstGeom>
          <a:solidFill>
            <a:srgbClr val="94A3B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3182112"/>
            <a:ext cx="640080" cy="6982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2.2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554480" y="3182112"/>
            <a:ext cx="5029200" cy="6982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KTP-bound capture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675120" y="3182112"/>
            <a:ext cx="4572000" cy="6982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Pak Jun #10 · per-session KTP holding photo + KYC partnership (Privy/Tilaka)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3941064"/>
            <a:ext cx="11094415" cy="6982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3941064"/>
            <a:ext cx="73152" cy="698236"/>
          </a:xfrm>
          <a:prstGeom prst="rect">
            <a:avLst/>
          </a:prstGeom>
          <a:solidFill>
            <a:srgbClr val="F7941D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3941064"/>
            <a:ext cx="640080" cy="6982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2.3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554480" y="3941064"/>
            <a:ext cx="5029200" cy="6982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Voice-print of Pelaksana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675120" y="3941064"/>
            <a:ext cx="4572000" cy="6982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Voice OTP at session start · piggybacks on L0b audio fingerprint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0728655" y="4077675"/>
            <a:ext cx="777240" cy="417424"/>
          </a:xfrm>
          <a:prstGeom prst="rect">
            <a:avLst/>
          </a:prstGeom>
          <a:solidFill>
            <a:srgbClr val="F7941D"/>
          </a:solidFill>
          <a:ln w="12700">
            <a:solidFill>
              <a:srgbClr val="F7941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728655" y="4077675"/>
            <a:ext cx="777240" cy="417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NEW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48640" y="4700016"/>
            <a:ext cx="11094415" cy="6982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48640" y="4700016"/>
            <a:ext cx="73152" cy="698236"/>
          </a:xfrm>
          <a:prstGeom prst="rect">
            <a:avLst/>
          </a:prstGeom>
          <a:solidFill>
            <a:srgbClr val="F7941D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2960" y="4700016"/>
            <a:ext cx="640080" cy="6982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2.4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554480" y="4700016"/>
            <a:ext cx="5029200" cy="6982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Liveness check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675120" y="4700016"/>
            <a:ext cx="4572000" cy="6982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Passive + active liveness · WhatsApp-native KYC enrollment (Adrian's idea)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0728655" y="4836627"/>
            <a:ext cx="777240" cy="417424"/>
          </a:xfrm>
          <a:prstGeom prst="rect">
            <a:avLst/>
          </a:prstGeom>
          <a:solidFill>
            <a:srgbClr val="F7941D"/>
          </a:solidFill>
          <a:ln w="12700">
            <a:solidFill>
              <a:srgbClr val="F7941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728655" y="4836627"/>
            <a:ext cx="777240" cy="417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NEW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548640" y="5458968"/>
            <a:ext cx="11094415" cy="6982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48640" y="5458968"/>
            <a:ext cx="73152" cy="698236"/>
          </a:xfrm>
          <a:prstGeom prst="rect">
            <a:avLst/>
          </a:prstGeom>
          <a:solidFill>
            <a:srgbClr val="F7941D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22960" y="5458968"/>
            <a:ext cx="640080" cy="6982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2.5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554480" y="5458968"/>
            <a:ext cx="5029200" cy="6982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Device attestation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675120" y="5458968"/>
            <a:ext cx="4572000" cy="6982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Android Play Integrity · pairs with custom AutoKon camera app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0728655" y="5595579"/>
            <a:ext cx="777240" cy="417424"/>
          </a:xfrm>
          <a:prstGeom prst="rect">
            <a:avLst/>
          </a:prstGeom>
          <a:solidFill>
            <a:srgbClr val="F7941D"/>
          </a:solidFill>
          <a:ln w="12700">
            <a:solidFill>
              <a:srgbClr val="F7941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728655" y="5595579"/>
            <a:ext cx="777240" cy="417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NEW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64748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 · PILLAR 03 · PLACE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AutoKon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.id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545775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 / 18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spc="-100" kern="0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Place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"Is this the actual unit it claims to be?"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423160"/>
            <a:ext cx="11094415" cy="4987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423160"/>
            <a:ext cx="73152" cy="498740"/>
          </a:xfrm>
          <a:prstGeom prst="rect">
            <a:avLst/>
          </a:prstGeom>
          <a:solidFill>
            <a:srgbClr val="94A3B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423160"/>
            <a:ext cx="640080" cy="498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3.1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554480" y="2423160"/>
            <a:ext cx="5029200" cy="498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Photo GPS consistency (not accuracy)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675120" y="2423160"/>
            <a:ext cx="4572000" cy="498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Per-unit centroid clustering · pattern beats accuracy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965269"/>
            <a:ext cx="11094415" cy="4987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2965269"/>
            <a:ext cx="73152" cy="498740"/>
          </a:xfrm>
          <a:prstGeom prst="rect">
            <a:avLst/>
          </a:prstGeom>
          <a:solidFill>
            <a:srgbClr val="22C55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2965269"/>
            <a:ext cx="640080" cy="498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3.2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554480" y="2965269"/>
            <a:ext cx="5029200" cy="498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Video site presence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675120" y="2965269"/>
            <a:ext cx="4572000" cy="498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Dickson's L0a + multi-point GPS sampling start/middle/end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0728655" y="3062848"/>
            <a:ext cx="777240" cy="29816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728655" y="3062848"/>
            <a:ext cx="777240" cy="29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SHIPPED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48640" y="3507377"/>
            <a:ext cx="11094415" cy="4987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3507377"/>
            <a:ext cx="73152" cy="498740"/>
          </a:xfrm>
          <a:prstGeom prst="rect">
            <a:avLst/>
          </a:prstGeom>
          <a:solidFill>
            <a:srgbClr val="22C55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3507377"/>
            <a:ext cx="640080" cy="498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3.3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554480" y="3507377"/>
            <a:ext cx="5029200" cy="498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Video-photo GPS cross-reference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675120" y="3507377"/>
            <a:ext cx="4572000" cy="498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Dickson's L4 + temporal alignment + walk-path proximity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0728655" y="3604957"/>
            <a:ext cx="777240" cy="29816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728655" y="3604957"/>
            <a:ext cx="777240" cy="29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SHIPPED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48640" y="4049486"/>
            <a:ext cx="11094415" cy="4987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48640" y="4049486"/>
            <a:ext cx="73152" cy="498740"/>
          </a:xfrm>
          <a:prstGeom prst="rect">
            <a:avLst/>
          </a:prstGeom>
          <a:solidFill>
            <a:srgbClr val="2563E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2960" y="4049486"/>
            <a:ext cx="640080" cy="498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3.4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554480" y="4049486"/>
            <a:ext cx="5029200" cy="498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Pre-construction baseline + drone reference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675120" y="4049486"/>
            <a:ext cx="4572000" cy="498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Smartphone 360° + drone (revived per Adrian — big devs already drone)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0728655" y="4147065"/>
            <a:ext cx="777240" cy="2981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728655" y="4147065"/>
            <a:ext cx="777240" cy="29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REVIVED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548640" y="4591594"/>
            <a:ext cx="11094415" cy="4987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48640" y="4591594"/>
            <a:ext cx="73152" cy="498740"/>
          </a:xfrm>
          <a:prstGeom prst="rect">
            <a:avLst/>
          </a:prstGeom>
          <a:solidFill>
            <a:srgbClr val="94A3B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22960" y="4591594"/>
            <a:ext cx="640080" cy="498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3.5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554480" y="4591594"/>
            <a:ext cx="5029200" cy="498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Project-level geo-tag (Pak Jun #11)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675120" y="4591594"/>
            <a:ext cx="4572000" cy="498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Bank inputs full address; system geocodes — respects Indonesian app convention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48640" y="5133703"/>
            <a:ext cx="11094415" cy="4987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48640" y="5133703"/>
            <a:ext cx="73152" cy="498740"/>
          </a:xfrm>
          <a:prstGeom prst="rect">
            <a:avLst/>
          </a:prstGeom>
          <a:solidFill>
            <a:srgbClr val="F7941D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22960" y="5133703"/>
            <a:ext cx="640080" cy="498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3.6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1554480" y="5133703"/>
            <a:ext cx="5029200" cy="498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Satellite imagery cross-check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6675120" y="5133703"/>
            <a:ext cx="4572000" cy="498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Sentinel-2 free tier default · Planet Labs premium tier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10728655" y="5231282"/>
            <a:ext cx="777240" cy="298160"/>
          </a:xfrm>
          <a:prstGeom prst="rect">
            <a:avLst/>
          </a:prstGeom>
          <a:solidFill>
            <a:srgbClr val="F7941D"/>
          </a:solidFill>
          <a:ln w="12700">
            <a:solidFill>
              <a:srgbClr val="F7941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0728655" y="5231282"/>
            <a:ext cx="777240" cy="29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NEW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548640" y="5675811"/>
            <a:ext cx="11094415" cy="4987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48640" y="5675811"/>
            <a:ext cx="73152" cy="498740"/>
          </a:xfrm>
          <a:prstGeom prst="rect">
            <a:avLst/>
          </a:prstGeom>
          <a:solidFill>
            <a:srgbClr val="F7941D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22960" y="5675811"/>
            <a:ext cx="640080" cy="498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3.7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1554480" y="5675811"/>
            <a:ext cx="5029200" cy="498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Siteplan-relative cross-reference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6675120" y="5675811"/>
            <a:ext cx="4572000" cy="498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Pattern-matching against siteplan — Adrian's archipelago-reality insight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10728655" y="5773391"/>
            <a:ext cx="777240" cy="298160"/>
          </a:xfrm>
          <a:prstGeom prst="rect">
            <a:avLst/>
          </a:prstGeom>
          <a:solidFill>
            <a:srgbClr val="F7941D"/>
          </a:solidFill>
          <a:ln w="12700">
            <a:solidFill>
              <a:srgbClr val="F7941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0728655" y="5773391"/>
            <a:ext cx="777240" cy="29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NEW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64748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6 · PILLAR 04 · TIME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AutoKon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.id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545775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07 / 18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spc="-100" kern="0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Time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"Was this captured now, not last week or recycled?"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423160"/>
            <a:ext cx="11094415" cy="581863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423160"/>
            <a:ext cx="73152" cy="581863"/>
          </a:xfrm>
          <a:prstGeom prst="rect">
            <a:avLst/>
          </a:prstGeom>
          <a:solidFill>
            <a:srgbClr val="22C55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423160"/>
            <a:ext cx="640080" cy="5818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4.1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554480" y="2423160"/>
            <a:ext cx="5029200" cy="5818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Audio fingerprint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675120" y="2423160"/>
            <a:ext cx="4572000" cy="5818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Dickson's L0b · Shazam-style spectral upgrade · best single pitch sentence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0728655" y="2537003"/>
            <a:ext cx="777240" cy="347853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728655" y="2537003"/>
            <a:ext cx="777240" cy="3478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SHIPPED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48640" y="3055620"/>
            <a:ext cx="11094415" cy="581863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3055620"/>
            <a:ext cx="73152" cy="581863"/>
          </a:xfrm>
          <a:prstGeom prst="rect">
            <a:avLst/>
          </a:prstGeom>
          <a:solidFill>
            <a:srgbClr val="22C55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3055620"/>
            <a:ext cx="640080" cy="5818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4.2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554480" y="3055620"/>
            <a:ext cx="5029200" cy="5818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Photo freshness + monotonic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675120" y="3055620"/>
            <a:ext cx="4572000" cy="5818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Dickson's L5 · multi-modal time triangulation upgrade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0728655" y="3169463"/>
            <a:ext cx="777240" cy="347853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728655" y="3169463"/>
            <a:ext cx="777240" cy="3478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SHIPPED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48640" y="3688080"/>
            <a:ext cx="11094415" cy="581863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" y="3688080"/>
            <a:ext cx="73152" cy="581863"/>
          </a:xfrm>
          <a:prstGeom prst="rect">
            <a:avLst/>
          </a:prstGeom>
          <a:solidFill>
            <a:srgbClr val="94A3B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3688080"/>
            <a:ext cx="640080" cy="5818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4.3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554480" y="3688080"/>
            <a:ext cx="5029200" cy="5818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Sun-angle / shadow consistency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3688080"/>
            <a:ext cx="4572000" cy="5818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Astronomical math — 'we use physics to verify time' · pitch theater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48640" y="4320540"/>
            <a:ext cx="11094415" cy="581863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48640" y="4320540"/>
            <a:ext cx="73152" cy="581863"/>
          </a:xfrm>
          <a:prstGeom prst="rect">
            <a:avLst/>
          </a:prstGeom>
          <a:solidFill>
            <a:srgbClr val="94A3B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2960" y="4320540"/>
            <a:ext cx="640080" cy="5818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4.4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554480" y="4320540"/>
            <a:ext cx="5029200" cy="5818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Behavioral baseline per Pelaksana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675120" y="4320540"/>
            <a:ext cx="4572000" cy="5818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Time-of-day · pace · linguistic · geographic · multi-factor composite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48640" y="4953000"/>
            <a:ext cx="11094415" cy="581863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48640" y="4953000"/>
            <a:ext cx="73152" cy="581863"/>
          </a:xfrm>
          <a:prstGeom prst="rect">
            <a:avLst/>
          </a:prstGeom>
          <a:solidFill>
            <a:srgbClr val="F7941D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22960" y="4953000"/>
            <a:ext cx="640080" cy="5818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4.5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554480" y="4953000"/>
            <a:ext cx="5029200" cy="5818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External time anchor / public sealing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675120" y="4953000"/>
            <a:ext cx="4572000" cy="5818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RFC 3161 TSA preferred over blockchain framing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10728655" y="5066843"/>
            <a:ext cx="777240" cy="347853"/>
          </a:xfrm>
          <a:prstGeom prst="rect">
            <a:avLst/>
          </a:prstGeom>
          <a:solidFill>
            <a:srgbClr val="F7941D"/>
          </a:solidFill>
          <a:ln w="12700">
            <a:solidFill>
              <a:srgbClr val="F7941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728655" y="5066843"/>
            <a:ext cx="777240" cy="3478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NEW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548640" y="5585460"/>
            <a:ext cx="11094415" cy="581863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48640" y="5585460"/>
            <a:ext cx="73152" cy="581863"/>
          </a:xfrm>
          <a:prstGeom prst="rect">
            <a:avLst/>
          </a:prstGeom>
          <a:solidFill>
            <a:srgbClr val="F7941D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22960" y="5585460"/>
            <a:ext cx="640080" cy="5818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4.6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1554480" y="5585460"/>
            <a:ext cx="5029200" cy="5818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Indonesian-context cross-correlation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6675120" y="5585460"/>
            <a:ext cx="4572000" cy="5818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BMKG weather · call-to-prayer · uniquely Indonesian moat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10728655" y="5699303"/>
            <a:ext cx="777240" cy="347853"/>
          </a:xfrm>
          <a:prstGeom prst="rect">
            <a:avLst/>
          </a:prstGeom>
          <a:solidFill>
            <a:srgbClr val="F7941D"/>
          </a:solidFill>
          <a:ln w="12700">
            <a:solidFill>
              <a:srgbClr val="F7941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0728655" y="5699303"/>
            <a:ext cx="777240" cy="3478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NEW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64748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7 · PILLAR 05 · CHAIN OF CUSTODY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AutoKon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.id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545775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08 / 18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spc="-100" kern="0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Chain of Custody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"Once evidence enters AutoKon, can it be tampered with?"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423160"/>
            <a:ext cx="11094415" cy="581863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423160"/>
            <a:ext cx="73152" cy="581863"/>
          </a:xfrm>
          <a:prstGeom prst="rect">
            <a:avLst/>
          </a:prstGeom>
          <a:solidFill>
            <a:srgbClr val="22C55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423160"/>
            <a:ext cx="640080" cy="5818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5.1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554480" y="2423160"/>
            <a:ext cx="5029200" cy="5818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Multi-step approval workflow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675120" y="2423160"/>
            <a:ext cx="4572000" cy="5818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Pengawas → SM → PM · quorum-based for high-value · AI-assisted queue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0728655" y="2537003"/>
            <a:ext cx="777240" cy="347853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728655" y="2537003"/>
            <a:ext cx="777240" cy="3478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SHIPPED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48640" y="3055620"/>
            <a:ext cx="11094415" cy="581863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3055620"/>
            <a:ext cx="73152" cy="581863"/>
          </a:xfrm>
          <a:prstGeom prst="rect">
            <a:avLst/>
          </a:prstGeom>
          <a:solidFill>
            <a:srgbClr val="F7941D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3055620"/>
            <a:ext cx="640080" cy="5818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5.2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554480" y="3055620"/>
            <a:ext cx="5029200" cy="5818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Tamper-evident hash chain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675120" y="3055620"/>
            <a:ext cx="4572000" cy="5818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Per-project Merkle tree · WORM storage = Phase-0 win, ships in a day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0728655" y="3169463"/>
            <a:ext cx="777240" cy="347853"/>
          </a:xfrm>
          <a:prstGeom prst="rect">
            <a:avLst/>
          </a:prstGeom>
          <a:solidFill>
            <a:srgbClr val="F7941D"/>
          </a:solidFill>
          <a:ln w="12700">
            <a:solidFill>
              <a:srgbClr val="F7941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728655" y="3169463"/>
            <a:ext cx="777240" cy="3478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NEW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48640" y="3688080"/>
            <a:ext cx="11094415" cy="581863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" y="3688080"/>
            <a:ext cx="73152" cy="581863"/>
          </a:xfrm>
          <a:prstGeom prst="rect">
            <a:avLst/>
          </a:prstGeom>
          <a:solidFill>
            <a:srgbClr val="F7941D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3688080"/>
            <a:ext cx="640080" cy="5818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5.3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554480" y="3688080"/>
            <a:ext cx="5029200" cy="5818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Periodic public sealing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3688080"/>
            <a:ext cx="4572000" cy="5818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RFC 3161 TSA · independent third-party (Privy/Tilaka) · transparency log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0728655" y="3801923"/>
            <a:ext cx="777240" cy="347853"/>
          </a:xfrm>
          <a:prstGeom prst="rect">
            <a:avLst/>
          </a:prstGeom>
          <a:solidFill>
            <a:srgbClr val="F7941D"/>
          </a:solidFill>
          <a:ln w="12700">
            <a:solidFill>
              <a:srgbClr val="F7941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728655" y="3801923"/>
            <a:ext cx="777240" cy="3478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NEW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48640" y="4320540"/>
            <a:ext cx="11094415" cy="581863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48640" y="4320540"/>
            <a:ext cx="73152" cy="581863"/>
          </a:xfrm>
          <a:prstGeom prst="rect">
            <a:avLst/>
          </a:prstGeom>
          <a:solidFill>
            <a:srgbClr val="94A3B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2960" y="4320540"/>
            <a:ext cx="640080" cy="5818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5.4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554480" y="4320540"/>
            <a:ext cx="5029200" cy="5818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 digital sign-off / witness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675120" y="4320540"/>
            <a:ext cx="4572000" cy="5818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Dickson's exact ask — 'Saksi: Anda lihat hari ini? Ya/Tidak' · 10-min ship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48640" y="4953000"/>
            <a:ext cx="11094415" cy="581863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48640" y="4953000"/>
            <a:ext cx="73152" cy="581863"/>
          </a:xfrm>
          <a:prstGeom prst="rect">
            <a:avLst/>
          </a:prstGeom>
          <a:solidFill>
            <a:srgbClr val="F7941D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22960" y="4953000"/>
            <a:ext cx="640080" cy="5818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5.5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554480" y="4953000"/>
            <a:ext cx="5029200" cy="5818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Cryptographic per-signer signing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675120" y="4953000"/>
            <a:ext cx="4572000" cy="5818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PKI public registry · independently verifiable signatures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0728655" y="5066843"/>
            <a:ext cx="777240" cy="347853"/>
          </a:xfrm>
          <a:prstGeom prst="rect">
            <a:avLst/>
          </a:prstGeom>
          <a:solidFill>
            <a:srgbClr val="F7941D"/>
          </a:solidFill>
          <a:ln w="12700">
            <a:solidFill>
              <a:srgbClr val="F7941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728655" y="5066843"/>
            <a:ext cx="777240" cy="3478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NEW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548640" y="5585460"/>
            <a:ext cx="11094415" cy="581863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48640" y="5585460"/>
            <a:ext cx="73152" cy="581863"/>
          </a:xfrm>
          <a:prstGeom prst="rect">
            <a:avLst/>
          </a:prstGeom>
          <a:solidFill>
            <a:srgbClr val="F7941D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22960" y="5585460"/>
            <a:ext cx="640080" cy="5818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5.6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1554480" y="5585460"/>
            <a:ext cx="5029200" cy="5818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Immutable audit log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6675120" y="5585460"/>
            <a:ext cx="4572000" cy="5818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Postgres temporal tables · WAL export to immutable storage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10728655" y="5699303"/>
            <a:ext cx="777240" cy="347853"/>
          </a:xfrm>
          <a:prstGeom prst="rect">
            <a:avLst/>
          </a:prstGeom>
          <a:solidFill>
            <a:srgbClr val="F7941D"/>
          </a:solidFill>
          <a:ln w="12700">
            <a:solidFill>
              <a:srgbClr val="F7941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0728655" y="5699303"/>
            <a:ext cx="777240" cy="3478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NEW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64748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8 · PILLAR 06 · INDEPENDENT VERIFICATION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AutoKon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.id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545775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09 / 18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spc="-100" kern="0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Independent Verification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"Do you ever rely on something other than your own software?"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423160"/>
            <a:ext cx="11094415" cy="6982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423160"/>
            <a:ext cx="73152" cy="698236"/>
          </a:xfrm>
          <a:prstGeom prst="rect">
            <a:avLst/>
          </a:prstGeom>
          <a:solidFill>
            <a:srgbClr val="94A3B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423160"/>
            <a:ext cx="640080" cy="6982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6.1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554480" y="2423160"/>
            <a:ext cx="5029200" cy="6982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KJPP physical inspection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675120" y="2423160"/>
            <a:ext cx="4572000" cy="6982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AutoKon-routed triggers using Dickson's tier classification — flagship pitch line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182112"/>
            <a:ext cx="11094415" cy="6982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3182112"/>
            <a:ext cx="73152" cy="698236"/>
          </a:xfrm>
          <a:prstGeom prst="rect">
            <a:avLst/>
          </a:prstGeom>
          <a:solidFill>
            <a:srgbClr val="2563E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182112"/>
            <a:ext cx="640080" cy="6982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6.2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554480" y="3182112"/>
            <a:ext cx="5029200" cy="6982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RT/RW or Lurah witness signature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675120" y="3182112"/>
            <a:ext cx="4572000" cy="6982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Uniquely Indonesian — no US/EU competitor would think of this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0728655" y="3318723"/>
            <a:ext cx="777240" cy="41742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728655" y="3318723"/>
            <a:ext cx="777240" cy="417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REVIVED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48640" y="3941064"/>
            <a:ext cx="11094415" cy="6982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3941064"/>
            <a:ext cx="73152" cy="698236"/>
          </a:xfrm>
          <a:prstGeom prst="rect">
            <a:avLst/>
          </a:prstGeom>
          <a:solidFill>
            <a:srgbClr val="94A3B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3941064"/>
            <a:ext cx="640080" cy="6982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6.3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554480" y="3941064"/>
            <a:ext cx="5029200" cy="6982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Satellite imagery cross-check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675120" y="3941064"/>
            <a:ext cx="4572000" cy="6982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Cross-listed with Pillar 3 · 'EU Space Agency Sentinel-2'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4700016"/>
            <a:ext cx="11094415" cy="6982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8640" y="4700016"/>
            <a:ext cx="73152" cy="698236"/>
          </a:xfrm>
          <a:prstGeom prst="rect">
            <a:avLst/>
          </a:prstGeom>
          <a:solidFill>
            <a:srgbClr val="94A3B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2960" y="4700016"/>
            <a:ext cx="640080" cy="6982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6.4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554480" y="4700016"/>
            <a:ext cx="5029200" cy="6982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Drone overflight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675120" y="4700016"/>
            <a:ext cx="4572000" cy="6982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Cross-listed with Pillar 3 · developer-supplied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48640" y="5458968"/>
            <a:ext cx="11094415" cy="6982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48640" y="5458968"/>
            <a:ext cx="73152" cy="698236"/>
          </a:xfrm>
          <a:prstGeom prst="rect">
            <a:avLst/>
          </a:prstGeom>
          <a:solidFill>
            <a:srgbClr val="F7941D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2960" y="5458968"/>
            <a:ext cx="640080" cy="6982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6.5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554480" y="5458968"/>
            <a:ext cx="5029200" cy="6982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Independent third-party signing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675120" y="5458968"/>
            <a:ext cx="4572000" cy="6982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Privy/eMeterai · same e-sign as bank's KYC team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10728655" y="5595579"/>
            <a:ext cx="777240" cy="417424"/>
          </a:xfrm>
          <a:prstGeom prst="rect">
            <a:avLst/>
          </a:prstGeom>
          <a:solidFill>
            <a:srgbClr val="F7941D"/>
          </a:solidFill>
          <a:ln w="12700">
            <a:solidFill>
              <a:srgbClr val="F7941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728655" y="5595579"/>
            <a:ext cx="777240" cy="417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NEW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64748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09 · TWO CROSS-CUTTING LENSES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AutoKon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.id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545775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 / 18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spc="-100" kern="0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Threat motivation × tech-savviness — the 2x2 that organizes priority.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18745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Most Indonesian fraud is low-tech with high motivation, not the cybersecurity-textbook profile. This shapes ship priority.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371600" y="2423160"/>
            <a:ext cx="941832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080760" y="2423160"/>
            <a:ext cx="0" cy="3657600"/>
          </a:xfrm>
          <a:prstGeom prst="line">
            <a:avLst/>
          </a:prstGeom>
          <a:noFill/>
          <a:ln w="12700">
            <a:solidFill>
              <a:srgbClr val="CBD5E1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1371600" y="4251960"/>
            <a:ext cx="94183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1371600" y="6126480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600" kern="0" dirty="0">
                <a:solidFill>
                  <a:srgbClr val="64748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LOW MOTIVATION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080760" y="6126480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600" kern="0" dirty="0">
                <a:solidFill>
                  <a:srgbClr val="64748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HIGH MOTIVATION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554480" y="2606040"/>
            <a:ext cx="4343400" cy="146304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691640" y="2743200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400" kern="0" dirty="0">
                <a:solidFill>
                  <a:srgbClr val="33415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TECH-SAVVY × LOW MOTIVATION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691640" y="310896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Cryptographic forgery · Insider attack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(Pillar 5 — audit-grade defense)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63640" y="2606040"/>
            <a:ext cx="4343400" cy="146304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0" y="2743200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400" kern="0" dirty="0">
                <a:solidFill>
                  <a:srgbClr val="33415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TECH-SAVVY × HIGH MOTIVATION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6400800" y="310896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AI-generated photos · Deepfake video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(Pillar 1.4 — name in pitch)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554480" y="4434840"/>
            <a:ext cx="4343400" cy="146304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691640" y="4572000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400" kern="0" dirty="0">
                <a:solidFill>
                  <a:srgbClr val="33415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LOW-TECH × LOW MOTIVATION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691640" y="493776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Sub-hour time-shift · Weather inconsistency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(Pillar 4 Tier C — deprioritize)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263640" y="4434840"/>
            <a:ext cx="4343400" cy="1463040"/>
          </a:xfrm>
          <a:prstGeom prst="rect">
            <a:avLst/>
          </a:prstGeom>
          <a:solidFill>
            <a:srgbClr val="F7941D"/>
          </a:solidFill>
          <a:ln w="12700">
            <a:solidFill>
              <a:srgbClr val="F7941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0" y="4572000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400" kern="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★ LOW-TECH × HIGH MOTIVATION ★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6400800" y="493776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Word export · IG Story · screenshots · adjacent-unit · recycling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(Pillars 1.1, 1.6, 3.1 — VOLUME OF FRAUD)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64748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 · THE INDONESIAN MOAT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AutoKon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.id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545775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11 / 18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spc="-150" kern="0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Engineered for Indonesian field reality.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48640" y="17830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US/EU competitor would think to build any of these. They're the differentiation banks remember.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377440"/>
            <a:ext cx="3576218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7941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56032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794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77240" y="2971800"/>
            <a:ext cx="31190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Equatorial sun-angle math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" y="3429000"/>
            <a:ext cx="31190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Sun moves ~15°/hour at equator vs ~7° in mid-latitudes. Indonesia is uniquely sensitive to time-shift.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307738" y="2377440"/>
            <a:ext cx="3576218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7941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36338" y="256032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794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536338" y="2971800"/>
            <a:ext cx="31190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Call-to-prayer (azan) cross-check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36338" y="3429000"/>
            <a:ext cx="31190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If azan is in walk-around audio, cross-reference muezzin schedule for that GPS.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066837" y="2377440"/>
            <a:ext cx="3576218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7941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95437" y="256032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794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295437" y="2971800"/>
            <a:ext cx="31190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BMKG weather correlation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295437" y="3429000"/>
            <a:ext cx="31190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Cross-check claimed weather against Indonesian Meteorological Agency feed.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4343400"/>
            <a:ext cx="3576218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7941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452628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794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777240" y="4937760"/>
            <a:ext cx="31190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RT/RW witness signatures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77240" y="5394960"/>
            <a:ext cx="31190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Local Indonesian governance officials witness milestones — community-rooted independence.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307738" y="4343400"/>
            <a:ext cx="3576218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7941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36338" y="452628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794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05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4536338" y="4937760"/>
            <a:ext cx="31190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Low-tech consumer-app fraud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536338" y="5394960"/>
            <a:ext cx="31190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Catch Word export, IG Story, screenshots — what Indonesian fraudsters actually do.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8066837" y="4343400"/>
            <a:ext cx="3576218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7941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95437" y="452628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794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06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8295437" y="4937760"/>
            <a:ext cx="31190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Siteplan-relative GPS pattern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295437" y="5394960"/>
            <a:ext cx="31190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Pattern beats accuracy — designed for archipelago-reality GPS infrastructure.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11 · PHASE 0 — IMMEDIATE WINS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10362895" y="292608"/>
            <a:ext cx="1280160" cy="32918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362895" y="292608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PHASE 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AutoKon</a:t>
            </a:r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.id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545775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12 / 18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91440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spc="-150" kern="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Ship in days. Highest leverage.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548640" y="18288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Items that defend against the high-motivation high-volume Indonesian fraud profile, with zero or near-zero engineering cost.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606040"/>
            <a:ext cx="3576218" cy="18745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788920"/>
            <a:ext cx="30275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1.6 A–D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3246120"/>
            <a:ext cx="30275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Low-tech fraud detectors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3703320"/>
            <a:ext cx="302757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JPEG-quantization, IG-Story, screenshot, photo-of-screen — catches the dominant Indonesian fraud profile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307738" y="2606040"/>
            <a:ext cx="3576218" cy="18745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82058" y="2788920"/>
            <a:ext cx="30275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5.2 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82058" y="3246120"/>
            <a:ext cx="30275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WORM storage config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82058" y="3703320"/>
            <a:ext cx="302757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Single config change. Ships in a day. 'Even AutoKon admins cannot delete evidence.'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066837" y="2606040"/>
            <a:ext cx="3576218" cy="18745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41157" y="2788920"/>
            <a:ext cx="30275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5.4 A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341157" y="3246120"/>
            <a:ext cx="30275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Botpress witness prompt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341157" y="3703320"/>
            <a:ext cx="302757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10-minute flow change. Forces SM legal-grade attestation.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48640" y="4663440"/>
            <a:ext cx="3576218" cy="18745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4846320"/>
            <a:ext cx="30275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3.7 A+B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22960" y="5303520"/>
            <a:ext cx="30275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Centroid + siteplan pattern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22960" y="5760720"/>
            <a:ext cx="302757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Adrian's pattern-beats-accuracy insight. Fixes adjacent-unit confusion in a way Indonesian GPS can support.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307738" y="4663440"/>
            <a:ext cx="3576218" cy="18745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82058" y="4846320"/>
            <a:ext cx="30275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4.1 B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582058" y="5303520"/>
            <a:ext cx="30275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Spectral fingerprint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582058" y="5760720"/>
            <a:ext cx="302757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Shazam-style upgrade to existing audio fingerprint. Defeats re-encoding attacks.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066837" y="4663440"/>
            <a:ext cx="3576218" cy="18745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341157" y="4846320"/>
            <a:ext cx="30275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6.1 B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8341157" y="5303520"/>
            <a:ext cx="30275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AutoKon-routed KJPP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341157" y="5760720"/>
            <a:ext cx="302757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Uses existing tier classification. 'Software pre-screens, KJPP inspects what software flags.'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64748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12 · PHASE 1 — PILOT-30 COMMITMENTS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10362895" y="292608"/>
            <a:ext cx="1280160" cy="329184"/>
          </a:xfrm>
          <a:prstGeom prst="rect">
            <a:avLst/>
          </a:prstGeom>
          <a:solidFill>
            <a:srgbClr val="F7941D"/>
          </a:solidFill>
          <a:ln w="12700">
            <a:solidFill>
              <a:srgbClr val="F7941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362895" y="292608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PILOT-30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AutoKon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.id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545775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13 / 18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91440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spc="-150" kern="0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Ship in 30 days from first signed pilot.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548640" y="18288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Premium-tier features the first signed bank pilot funds. Public commitment with audit-grade legal weight.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697480"/>
            <a:ext cx="11094415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2697480"/>
            <a:ext cx="73152" cy="594360"/>
          </a:xfrm>
          <a:prstGeom prst="rect">
            <a:avLst/>
          </a:prstGeom>
          <a:solidFill>
            <a:srgbClr val="F7941D"/>
          </a:solidFill>
          <a:ln w="12700">
            <a:solidFill>
              <a:srgbClr val="F7941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69748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7941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IDENTITY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240280" y="2697480"/>
            <a:ext cx="931133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KTP-bound capture (Pak Jun #10) · KYC partnership (Privy/Tilaka) · WhatsApp-native KYC enrollment · liveness via vendor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410712"/>
            <a:ext cx="11094415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3410712"/>
            <a:ext cx="73152" cy="594360"/>
          </a:xfrm>
          <a:prstGeom prst="rect">
            <a:avLst/>
          </a:prstGeom>
          <a:solidFill>
            <a:srgbClr val="F7941D"/>
          </a:solidFill>
          <a:ln w="12700">
            <a:solidFill>
              <a:srgbClr val="F7941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3410712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7941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PLACE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240280" y="3410712"/>
            <a:ext cx="931133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Drone fly-over ingest from developer's existing drone · Planet Labs satellite (premium tier)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4123944"/>
            <a:ext cx="11094415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4123944"/>
            <a:ext cx="73152" cy="594360"/>
          </a:xfrm>
          <a:prstGeom prst="rect">
            <a:avLst/>
          </a:prstGeom>
          <a:solidFill>
            <a:srgbClr val="F7941D"/>
          </a:solidFill>
          <a:ln w="12700">
            <a:solidFill>
              <a:srgbClr val="F7941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4123944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7941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TIME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240280" y="4123944"/>
            <a:ext cx="931133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RFC 3161 TSA public sealing · BMKG weather correlation · call-to-prayer cross-check · multi-segment audio fingerprint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8640" y="4837176"/>
            <a:ext cx="11094415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" y="4837176"/>
            <a:ext cx="73152" cy="594360"/>
          </a:xfrm>
          <a:prstGeom prst="rect">
            <a:avLst/>
          </a:prstGeom>
          <a:solidFill>
            <a:srgbClr val="F7941D"/>
          </a:solidFill>
          <a:ln w="12700">
            <a:solidFill>
              <a:srgbClr val="F7941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4837176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7941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CUSTODY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240280" y="4837176"/>
            <a:ext cx="931133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Per-project Merkle tree · per-unit hash chain · RFC 3161 sealing · PKI public registry · audit log with hash links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48640" y="5550408"/>
            <a:ext cx="11094415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8640" y="5550408"/>
            <a:ext cx="73152" cy="594360"/>
          </a:xfrm>
          <a:prstGeom prst="rect">
            <a:avLst/>
          </a:prstGeom>
          <a:solidFill>
            <a:srgbClr val="F7941D"/>
          </a:solidFill>
          <a:ln w="12700">
            <a:solidFill>
              <a:srgbClr val="F7941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2960" y="5550408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7941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INDEPENDENT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240280" y="5550408"/>
            <a:ext cx="931133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RT/RW witness signature · Privy/eMeterai third-party signing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64748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13 · PHASE 2 + ROADMAP RESERVE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AutoKon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.id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545775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14 / 18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spc="-100" kern="0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Roadmap-named, observed-attack-driven shipping.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17830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Named in the pitch for credibility, but engineered only when real-world fraud data justifies the investment.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468880"/>
            <a:ext cx="5364328" cy="4023360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743200"/>
            <a:ext cx="4632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33415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PHASE 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3108960"/>
            <a:ext cx="4632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Future-tier features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914400" y="3749040"/>
            <a:ext cx="4632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C2PA content credentials · waits for Pelaksana phone fleet upgrade ~2027+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914400" y="4069080"/>
            <a:ext cx="4632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Android Play Integrity · requires custom AutoKon camera app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914400" y="4389120"/>
            <a:ext cx="4632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Mobile-device-bound keys · custom-app pairing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914400" y="4709160"/>
            <a:ext cx="4632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HSM keys · operational hardening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914400" y="5029200"/>
            <a:ext cx="4632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Database WAL export · deeper protection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914400" y="5349240"/>
            <a:ext cx="4632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Event-sourcing architecture · significant rewrite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914400" y="5669280"/>
            <a:ext cx="4632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PRNU sensor fingerprint · theoretical for Indonesian field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914400" y="5989320"/>
            <a:ext cx="4632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Bitcoin/Ethereum sealing · only when audience wants blockchain framing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278728" y="2468880"/>
            <a:ext cx="5364328" cy="4023360"/>
          </a:xfrm>
          <a:prstGeom prst="rect">
            <a:avLst/>
          </a:prstGeom>
          <a:solidFill>
            <a:srgbClr val="F1F5F9"/>
          </a:solidFill>
          <a:ln w="12700">
            <a:solidFill>
              <a:srgbClr val="94A3B8"/>
            </a:solidFill>
            <a:prstDash val="dash"/>
          </a:ln>
        </p:spPr>
      </p:sp>
      <p:sp>
        <p:nvSpPr>
          <p:cNvPr id="19" name="Text 17"/>
          <p:cNvSpPr/>
          <p:nvPr/>
        </p:nvSpPr>
        <p:spPr>
          <a:xfrm>
            <a:off x="6644488" y="2743200"/>
            <a:ext cx="4632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ROADMAP RESERVE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644488" y="3108960"/>
            <a:ext cx="4632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Defer until observed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644488" y="3749040"/>
            <a:ext cx="4632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Advanced AI-generation defeats — until real attack observed in pilot data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644488" y="4114800"/>
            <a:ext cx="4632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VFX video forgery — until observed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644488" y="4480560"/>
            <a:ext cx="4632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Cross-modality consistent forgery — until observed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644488" y="4846320"/>
            <a:ext cx="4632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Rooted-device sophisticated bypass — until observed at scale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644488" y="5212080"/>
            <a:ext cx="4632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644488" y="5577840"/>
            <a:ext cx="4632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These items live in the pitch as 'we have the architectural framework to add these when threats emerge,'  not as committed delivery.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64748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14 · PITCH LANGUAGE REFERENCE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AutoKon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.id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545775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15 / 18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spc="-100" kern="0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actual sentences for the bank pitch deck.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1371600" cy="4572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9659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AUTHENTICITY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103120" y="1965960"/>
            <a:ext cx="95399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"We screen every photo against state-of-the-art AI-generation detectors — the same techniques used to catch the JAKI Pemprov DKI Gemini-watermark scandal in 2025."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532888"/>
            <a:ext cx="1371600" cy="4572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53288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AUTHENTICITY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103120" y="2532888"/>
            <a:ext cx="95399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"We catch the Microsoft-Word-export trick. We catch the Instagram Story overlay trick. We catch screenshots. We've engineered for what Indonesian fraudsters actually do."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099816"/>
            <a:ext cx="1371600" cy="457200"/>
          </a:xfrm>
          <a:prstGeom prst="rect">
            <a:avLst/>
          </a:prstGeom>
          <a:solidFill>
            <a:srgbClr val="F7941D"/>
          </a:solidFill>
          <a:ln w="12700">
            <a:solidFill>
              <a:srgbClr val="F7941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099816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IDENTITY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103120" y="3099816"/>
            <a:ext cx="95399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"Bank-PIC signatures go through Privy / eMeterai — the same e-signature infrastructure your KYC team uses."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3666744"/>
            <a:ext cx="1371600" cy="457200"/>
          </a:xfrm>
          <a:prstGeom prst="rect">
            <a:avLst/>
          </a:prstGeom>
          <a:solidFill>
            <a:srgbClr val="FF7426"/>
          </a:solidFill>
          <a:ln w="12700">
            <a:solidFill>
              <a:srgbClr val="FF742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666744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PLACE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103120" y="3666744"/>
            <a:ext cx="95399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"We don't claim perfect GPS coordinates — Indonesia's archipelago infrastructure makes that impossible. We claim 1000 units have 1000 distinct GPS signatures matching the siteplan layout."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4233672"/>
            <a:ext cx="1371600" cy="4572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423367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TIME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103120" y="4233672"/>
            <a:ext cx="95399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"Our audio fingerprint catches recycled videos using the same forensic technique Shazam uses to identify songs."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8640" y="4800600"/>
            <a:ext cx="1371600" cy="4572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48006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TIME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103120" y="4800600"/>
            <a:ext cx="95399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"If the call to prayer is audible in the walk-around video, our system verifies it matches the muezzin schedule for that location."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5367528"/>
            <a:ext cx="1371600" cy="45720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536752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CUSTODY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103120" y="5367528"/>
            <a:ext cx="95399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"All evidence files are stored on Write-Once-Read-Many infrastructure. Even AutoKon admins cannot delete or overwrite evidence."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48640" y="5934456"/>
            <a:ext cx="1371600" cy="45720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5934456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INDEPENDENT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103120" y="5934456"/>
            <a:ext cx="95399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"AutoKon makes KJPP 10x more focused. Software pre-screens; KJPP inspects what software flags as risky."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15 · CLOSE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545775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16 / 18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400" b="1" spc="-200" kern="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Two takeaways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548640" y="205740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400" b="1" spc="-200" kern="0" dirty="0">
                <a:solidFill>
                  <a:srgbClr val="F794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for the bank.</a:t>
            </a:r>
            <a:endParaRPr lang="en-US" sz="6400" dirty="0"/>
          </a:p>
        </p:txBody>
      </p:sp>
      <p:sp>
        <p:nvSpPr>
          <p:cNvPr id="6" name="Shape 4"/>
          <p:cNvSpPr/>
          <p:nvPr/>
        </p:nvSpPr>
        <p:spPr>
          <a:xfrm>
            <a:off x="548640" y="3200400"/>
            <a:ext cx="5364328" cy="2743200"/>
          </a:xfrm>
          <a:prstGeom prst="rect">
            <a:avLst/>
          </a:prstGeom>
          <a:solidFill>
            <a:srgbClr val="1E293B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3520440"/>
            <a:ext cx="4632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563E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01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914400" y="4114800"/>
            <a:ext cx="46328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AutoKon is engineered for Indonesian field reality.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14400" y="5074920"/>
            <a:ext cx="46328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Equatorial sun-angle math · BMKG weather feeds · call-to-prayer audio cross-check · RT/RW witness signatures · low-tech consumer-app fraud detectors · siteplan-relative GPS pattern matching. No US/EU competitor would build any of these.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78728" y="3200400"/>
            <a:ext cx="5364328" cy="2743200"/>
          </a:xfrm>
          <a:prstGeom prst="rect">
            <a:avLst/>
          </a:prstGeom>
          <a:solidFill>
            <a:srgbClr val="1E293B"/>
          </a:solidFill>
          <a:ln w="25400">
            <a:solidFill>
              <a:srgbClr val="F7941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44488" y="3520440"/>
            <a:ext cx="4632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794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02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6644488" y="4114800"/>
            <a:ext cx="46328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AutoKon makes the inspector 10x more focused.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644488" y="5074920"/>
            <a:ext cx="46328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Software catches ~80% of realistic fraud volume deterministically. The residual 20% is structurally chain-of-custody — KJPP at draw milestones, already part of how Indonesian banks operate. Software pre-screens; KJPP inspects what software flags.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AutoKon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64748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16 · OPEN QUESTIONS FOR DECISION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AutoKon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.id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545775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17 / 18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spc="-100" kern="0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Eight decisions before engineering proceeds.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2249424"/>
            <a:ext cx="365760" cy="36576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2494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97280" y="2194560"/>
            <a:ext cx="10545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 custom AutoKon camera app on the table for PILOT-30? (Resolves Items 1.5B + 2.5A together)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752344"/>
            <a:ext cx="365760" cy="36576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7523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97280" y="2697480"/>
            <a:ext cx="10545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KYC partnership selection: Privy vs Tilaka vs Sumsub vs Veriff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255264"/>
            <a:ext cx="365760" cy="36576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2552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97280" y="3200400"/>
            <a:ext cx="10545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Sentinel-2 free vs Planet Labs paid for Phase 0 satellite imagery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3758184"/>
            <a:ext cx="365760" cy="36576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7581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97280" y="3703320"/>
            <a:ext cx="10545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OpenTimestamps blockchain vs RFC 3161 TSA for public sealing language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4261104"/>
            <a:ext cx="365760" cy="36576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42611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97280" y="4206240"/>
            <a:ext cx="10545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WORM storage migration on Supabase — engineering Phase-0 immediate win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4764024"/>
            <a:ext cx="365760" cy="36576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47640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97280" y="4709160"/>
            <a:ext cx="10545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Drone overflight ingest format standardization with developers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48640" y="5266944"/>
            <a:ext cx="365760" cy="36576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52669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097280" y="5212080"/>
            <a:ext cx="10545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Tier-3 review queue SLA (Dickson's open question 6)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48640" y="5769864"/>
            <a:ext cx="365760" cy="36576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57698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097280" y="5715000"/>
            <a:ext cx="10545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RT/RW witness program scope and honoraria budget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17 · END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545775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18 / 18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400" b="1" spc="-200" kern="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Six pillars,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548640" y="233172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400" b="1" spc="-200" kern="0" dirty="0">
                <a:solidFill>
                  <a:srgbClr val="F794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thirty-five</a:t>
            </a:r>
            <a:pPr indent="0" marL="0">
              <a:buNone/>
            </a:pPr>
            <a:r>
              <a:rPr lang="en-US" sz="6400" b="1" spc="-200" kern="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items,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548640" y="31089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400" b="1" spc="-200" kern="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one </a:t>
            </a:r>
            <a:pPr indent="0" marL="0">
              <a:buNone/>
            </a:pPr>
            <a:r>
              <a:rPr lang="en-US" sz="6400" b="1" spc="-200" kern="0" dirty="0">
                <a:solidFill>
                  <a:srgbClr val="2563E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verifiable</a:t>
            </a:r>
            <a:pPr indent="0" marL="0">
              <a:buNone/>
            </a:pPr>
            <a:r>
              <a:rPr lang="en-US" sz="6400" b="1" spc="-200" kern="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bank pitch.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548640" y="5212080"/>
            <a:ext cx="36981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FULL BRIEF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5504688"/>
            <a:ext cx="35152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794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EVIDENCE_INTEGRITY_RESEARCH.md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246778" y="5212080"/>
            <a:ext cx="36981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INTERACTIVE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246778" y="5504688"/>
            <a:ext cx="35152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index.html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944917" y="5212080"/>
            <a:ext cx="36981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AUTHORS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944917" y="5504688"/>
            <a:ext cx="35152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Adrian + Claude Cowork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AutoKon</a:t>
            </a:r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.id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AutoKon — Evidence Integrity R&amp;D Brief — Summary</dc:title>
  <dc:subject>PptxGenJS Presentation</dc:subject>
  <dc:creator>Adrian + Claude Cowork</dc:creator>
  <cp:lastModifiedBy>Adrian + Claude Cowork</cp:lastModifiedBy>
  <cp:revision>1</cp:revision>
  <dcterms:created xsi:type="dcterms:W3CDTF">2026-05-01T11:26:10Z</dcterms:created>
  <dcterms:modified xsi:type="dcterms:W3CDTF">2026-05-01T11:26:10Z</dcterms:modified>
</cp:coreProperties>
</file>
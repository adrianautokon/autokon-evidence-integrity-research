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42255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600" kern="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BANK PITCH · EVIDENCE INTEGRITY R&amp;D · V1.0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AutoKon</a:t>
            </a:r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.id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7941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PROVE THE PHOTO IS REAL · TAKEN NOW · OF THE UNIT IT CLAIMS TO BE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spc="-20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Pillars to make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548640" y="333756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spc="-20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AutoKon's</a:t>
            </a:r>
            <a:pPr indent="0" marL="0">
              <a:buNone/>
            </a:pPr>
            <a:r>
              <a:rPr lang="en-US" sz="6400" b="1" spc="-200" kern="0" dirty="0">
                <a:solidFill>
                  <a:srgbClr val="2563E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evidence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548640" y="420624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spc="-20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stand up to</a:t>
            </a:r>
            <a:pPr indent="0" marL="0">
              <a:buNone/>
            </a:pPr>
            <a:r>
              <a:rPr lang="en-US" sz="6400" b="1" spc="-200" kern="0" dirty="0">
                <a:solidFill>
                  <a:srgbClr val="F7941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bank scrutiny.</a:t>
            </a:r>
            <a:endParaRPr lang="en-US" sz="6400" dirty="0"/>
          </a:p>
        </p:txBody>
      </p:sp>
      <p:sp>
        <p:nvSpPr>
          <p:cNvPr id="8" name="Shape 6"/>
          <p:cNvSpPr/>
          <p:nvPr/>
        </p:nvSpPr>
        <p:spPr>
          <a:xfrm>
            <a:off x="548640" y="5760720"/>
            <a:ext cx="11094415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5897880"/>
            <a:ext cx="27736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AUTHORS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6126480"/>
            <a:ext cx="25907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Adrian + Claude Cowork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322244" y="5897880"/>
            <a:ext cx="27736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BUILDS 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22244" y="6126480"/>
            <a:ext cx="25907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Dickson evidence integrity (May 1)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5848" y="5897880"/>
            <a:ext cx="27736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095848" y="6126480"/>
            <a:ext cx="25907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Dickson · Faishal · BSN/BTN pitch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9451" y="5897880"/>
            <a:ext cx="27736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DATE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869451" y="6126480"/>
            <a:ext cx="25907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 1,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 · THE CHALLENGE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AutoKon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.id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Banks need defensible proof. The current pipeline has a single trust surface.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5364328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743200"/>
            <a:ext cx="73152" cy="32004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017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EF444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TODAY · STRUCTURAL FRAUD GAPS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Photo recycling and metadata manipulation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3931920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Adjacent-unit confusion (FLPP 6m grid)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343400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Single Claude read = entire trust surface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4754880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No cross-checking layer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Indonesian field reality breaks naive GPS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78728" y="2743200"/>
            <a:ext cx="5364328" cy="3200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8728" y="2743200"/>
            <a:ext cx="73152" cy="3200400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53048" y="3017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F7941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 BANKS ASK · 6 QUESTIONS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553048" y="352044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Is this photo real? (Authenticity)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53048" y="388620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Is the submitter who they claim? (Identity)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53048" y="425196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Is this the actual unit? (Place)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53048" y="461772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Was this captured now? (Time)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53048" y="498348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Is the audit trail tamper-proof? (Custody)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53048" y="534924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Do you trust other than your own software? (Independent)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· THE FRAMEWORK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AutoKon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.id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pillars of trust. One bank question per pillar.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Reorganized from Dickson's 10-layer engineering architecture into 6 audience-first pillars that map directly to bank concerns. 35 items across all pillars; 100+ proposed solutions.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357621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743200"/>
            <a:ext cx="3576218" cy="3657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74320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PILLAR 01 · 6 ITEMS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77240" y="3246120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Authenticity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77240" y="3749040"/>
            <a:ext cx="3119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 photo real?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07738" y="2743200"/>
            <a:ext cx="357621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07738" y="2743200"/>
            <a:ext cx="3576218" cy="365760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6338" y="274320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PILLAR 02 · 5 ITEMS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36338" y="3246120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Identity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536338" y="3749040"/>
            <a:ext cx="3119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submitted it?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66837" y="2743200"/>
            <a:ext cx="357621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66837" y="2743200"/>
            <a:ext cx="3576218" cy="365760"/>
          </a:xfrm>
          <a:prstGeom prst="rect">
            <a:avLst/>
          </a:prstGeom>
          <a:solidFill>
            <a:srgbClr val="FF7426"/>
          </a:solidFill>
          <a:ln w="12700">
            <a:solidFill>
              <a:srgbClr val="FF74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95437" y="274320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PILLAR 03 · 7 ITEMS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95437" y="3246120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Place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295437" y="3749040"/>
            <a:ext cx="3119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this the right unit?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709160"/>
            <a:ext cx="357621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4709160"/>
            <a:ext cx="3576218" cy="36576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70916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PILLAR 04 · 6 ITEMS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7240" y="5212080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77240" y="5715000"/>
            <a:ext cx="3119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it captured now?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307738" y="4709160"/>
            <a:ext cx="357621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07738" y="4709160"/>
            <a:ext cx="3576218" cy="36576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36338" y="470916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PILLAR 05 · 6 ITEMS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36338" y="5212080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Chain of Custody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4536338" y="5715000"/>
            <a:ext cx="3119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Tamper-proof?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066837" y="4709160"/>
            <a:ext cx="357621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66837" y="4709160"/>
            <a:ext cx="3576218" cy="36576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95437" y="470916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PILLAR 06 · 5 ITEMS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295437" y="5212080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Independent Verification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95437" y="5715000"/>
            <a:ext cx="3119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cross-check?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· THE PELAKSANA ATTACK PLAYBOOK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AutoKon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.id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named ways a Pelaksana can fool us.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Dickson's reframe (May 2026): focus on in-system Pelaksana fraud — a legitimately enrolled user gaming what they capture, when, and where. Out-of-system fabrication (Word/IG/Canva) is the long tail — Item 1.6 demoted to Phase 2 residual.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545576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468880"/>
            <a:ext cx="73152" cy="365760"/>
          </a:xfrm>
          <a:prstGeom prst="rect">
            <a:avLst/>
          </a:prstGeom>
          <a:solidFill>
            <a:srgbClr val="FF742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688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742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PV-1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261872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Wrong-unit substitution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74720" y="2468880"/>
            <a:ext cx="243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Pillar 3.7 siteplan-relative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187288" y="2468880"/>
            <a:ext cx="545576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87288" y="2468880"/>
            <a:ext cx="73152" cy="365760"/>
          </a:xfrm>
          <a:prstGeom prst="rect">
            <a:avLst/>
          </a:prstGeom>
          <a:solidFill>
            <a:srgbClr val="FF742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70168" y="24688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742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PV-2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90052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Sister-project substitution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13368" y="2468880"/>
            <a:ext cx="243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Pillar 3.1 bbox + 1.1B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2880360"/>
            <a:ext cx="545576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2880360"/>
            <a:ext cx="73152" cy="365760"/>
          </a:xfrm>
          <a:prstGeom prst="rect">
            <a:avLst/>
          </a:prstGeom>
          <a:solidFill>
            <a:srgbClr val="FF742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28803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742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PV-3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261872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Recycled photo (previous trip)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74720" y="2880360"/>
            <a:ext cx="243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Pillar 1.1 pHash + 4.3 sun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187288" y="2880360"/>
            <a:ext cx="545576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87288" y="2880360"/>
            <a:ext cx="73152" cy="365760"/>
          </a:xfrm>
          <a:prstGeom prst="rect">
            <a:avLst/>
          </a:prstGeom>
          <a:solidFill>
            <a:srgbClr val="FF742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70168" y="28803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742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PV-4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90052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Stage relabeling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113368" y="2880360"/>
            <a:ext cx="243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Pillar 1.1 + 1.5 vision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48640" y="3291840"/>
            <a:ext cx="545576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3291840"/>
            <a:ext cx="73152" cy="365760"/>
          </a:xfrm>
          <a:prstGeom prst="rect">
            <a:avLst/>
          </a:prstGeom>
          <a:solidFill>
            <a:srgbClr val="FF742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32918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742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PV-5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261872" y="3291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Still-video fake walk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474720" y="3291840"/>
            <a:ext cx="243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motion-vector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187288" y="3291840"/>
            <a:ext cx="545576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87288" y="3291840"/>
            <a:ext cx="73152" cy="365760"/>
          </a:xfrm>
          <a:prstGeom prst="rect">
            <a:avLst/>
          </a:prstGeom>
          <a:solidFill>
            <a:srgbClr val="FF742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70168" y="32918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742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PV-6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900520" y="3291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Mock-GPS spoofing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113368" y="3291840"/>
            <a:ext cx="243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Pillar 3.2C + 2.5 attestation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48640" y="3703320"/>
            <a:ext cx="545576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703320"/>
            <a:ext cx="73152" cy="365760"/>
          </a:xfrm>
          <a:prstGeom prst="rect">
            <a:avLst/>
          </a:prstGeom>
          <a:solidFill>
            <a:srgbClr val="FF742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37033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742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PV-7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261872" y="3703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Delegation / buddy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474720" y="3703320"/>
            <a:ext cx="243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Pillar 2.3 voice + 2.4 selfie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187288" y="3703320"/>
            <a:ext cx="545576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187288" y="3703320"/>
            <a:ext cx="73152" cy="365760"/>
          </a:xfrm>
          <a:prstGeom prst="rect">
            <a:avLst/>
          </a:prstGeom>
          <a:solidFill>
            <a:srgbClr val="FF742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70168" y="37033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742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PV-8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900520" y="3703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Photo-of-render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113368" y="3703320"/>
            <a:ext cx="243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Pillar 1.4 AI + 3.7 + 4.3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48640" y="4114800"/>
            <a:ext cx="545576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48640" y="4114800"/>
            <a:ext cx="73152" cy="365760"/>
          </a:xfrm>
          <a:prstGeom prst="rect">
            <a:avLst/>
          </a:prstGeom>
          <a:solidFill>
            <a:srgbClr val="FF742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1520" y="41148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742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PV-9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261872" y="4114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Front-loaded capture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3474720" y="4114800"/>
            <a:ext cx="243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Pillar 4.3 + 4.6 + 4.1E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187288" y="4114800"/>
            <a:ext cx="545576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187288" y="4114800"/>
            <a:ext cx="73152" cy="365760"/>
          </a:xfrm>
          <a:prstGeom prst="rect">
            <a:avLst/>
          </a:prstGeom>
          <a:solidFill>
            <a:srgbClr val="FF742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70168" y="41148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742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PV-10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900520" y="4114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Coverage fraud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9113368" y="4114800"/>
            <a:ext cx="243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spec-coverage + 1.2D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548640" y="62636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Bank pitch flagship: "For each pattern, we have at least one Phase 0 defense that catches the lazy version, and one PILOT-30 commitment that hardens against the patient version."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· DEFENSE MATRIX · PHASE 0 RESHAPE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AutoKon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.id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new Phase 0 items follow directly from leading with the attack model.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1094415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28800"/>
            <a:ext cx="146304" cy="1325880"/>
          </a:xfrm>
          <a:prstGeom prst="rect">
            <a:avLst/>
          </a:prstGeom>
          <a:solidFill>
            <a:srgbClr val="F7941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057400"/>
            <a:ext cx="914400" cy="365760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0574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965960" y="2029968"/>
            <a:ext cx="9539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Motion-vector / optical-flow analysis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965960" y="2542032"/>
            <a:ext cx="9539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walk-around videos. Catches PV-5 still-video fake walks. Trivial OpenCV implementation on the existing video pipeline.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319272"/>
            <a:ext cx="11094415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19272"/>
            <a:ext cx="146304" cy="1325880"/>
          </a:xfrm>
          <a:prstGeom prst="rect">
            <a:avLst/>
          </a:prstGeom>
          <a:solidFill>
            <a:srgbClr val="F7941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47872"/>
            <a:ext cx="914400" cy="365760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5478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65960" y="3520440"/>
            <a:ext cx="9539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Spec-coverage scoring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965960" y="4032504"/>
            <a:ext cx="9539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spec item present/absent. "Obscured" requires SM second-photo + reason. Catches PV-10 coverage fraud.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809744"/>
            <a:ext cx="11094415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809744"/>
            <a:ext cx="146304" cy="1325880"/>
          </a:xfrm>
          <a:prstGeom prst="rect">
            <a:avLst/>
          </a:prstGeom>
          <a:solidFill>
            <a:srgbClr val="64748B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5038344"/>
            <a:ext cx="914400" cy="36576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503834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DEMOTE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965960" y="5010912"/>
            <a:ext cx="9539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Item 1.6 (Word/IG/Canva detectors) → Phase 2 residual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965960" y="5522976"/>
            <a:ext cx="9539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detectors address out-of-system fabricated artifacts — the long tail, not the dominant fraud surface. Engineering budget reallocates to PV-5 and PV-10 defenses.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62636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"We name 10 ways a Pelaksana can fool us, and here's how we catch each." — pitch flagship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· PILLAR 01 · AUTHENTICITY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AutoKon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.id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/ 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Authenticity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"Is the photo real, or is it fabricated, edited, or AI-generated?"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11094415" cy="58186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423160"/>
            <a:ext cx="73152" cy="581863"/>
          </a:xfrm>
          <a:prstGeom prst="rect">
            <a:avLst/>
          </a:prstGeom>
          <a:solidFill>
            <a:srgbClr val="22C55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423160"/>
            <a:ext cx="64008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554480" y="2423160"/>
            <a:ext cx="50292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 recycling detection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75120" y="2423160"/>
            <a:ext cx="45720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pHash + deep-learning embedding · Dickson's L3 baseline + cross-project layer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728655" y="2537003"/>
            <a:ext cx="777240" cy="347853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28655" y="2537003"/>
            <a:ext cx="777240" cy="347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SHIPPED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48640" y="3055620"/>
            <a:ext cx="11094415" cy="58186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055620"/>
            <a:ext cx="73152" cy="581863"/>
          </a:xfrm>
          <a:prstGeom prst="rect">
            <a:avLst/>
          </a:prstGeom>
          <a:solidFill>
            <a:srgbClr val="94A3B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055620"/>
            <a:ext cx="64008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54480" y="3055620"/>
            <a:ext cx="50292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Cross-photo consistency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75120" y="3055620"/>
            <a:ext cx="45720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Time-spread + shadow direction + Claude batch-check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688080"/>
            <a:ext cx="11094415" cy="58186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688080"/>
            <a:ext cx="73152" cy="581863"/>
          </a:xfrm>
          <a:prstGeom prst="rect">
            <a:avLst/>
          </a:prstGeom>
          <a:solidFill>
            <a:srgbClr val="94A3B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688080"/>
            <a:ext cx="64008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54480" y="3688080"/>
            <a:ext cx="50292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Edit/Photoshop forgery (ELA)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675120" y="3688080"/>
            <a:ext cx="45720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ELA + multi-model AI ensemble — 'as an AI tech company we should enable this'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4320540"/>
            <a:ext cx="11094415" cy="58186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4320540"/>
            <a:ext cx="73152" cy="581863"/>
          </a:xfrm>
          <a:prstGeom prst="rect">
            <a:avLst/>
          </a:prstGeom>
          <a:solidFill>
            <a:srgbClr val="94A3B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4320540"/>
            <a:ext cx="64008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54480" y="4320540"/>
            <a:ext cx="50292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AI-generated photo detection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675120" y="4320540"/>
            <a:ext cx="45720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JAKI Pemprov DKI Gemini scandal proof point — must address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953000"/>
            <a:ext cx="11094415" cy="58186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953000"/>
            <a:ext cx="73152" cy="581863"/>
          </a:xfrm>
          <a:prstGeom prst="rect">
            <a:avLst/>
          </a:prstGeom>
          <a:solidFill>
            <a:srgbClr val="22C55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4953000"/>
            <a:ext cx="64008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554480" y="4953000"/>
            <a:ext cx="50292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Trusted-source overlay validation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675120" y="4953000"/>
            <a:ext cx="45720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Whitelisted timestamp camera + custom AutoKon app (PILOT-30 commitment)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0728655" y="5066843"/>
            <a:ext cx="777240" cy="347853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728655" y="5066843"/>
            <a:ext cx="777240" cy="347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SHIPPED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48640" y="5585460"/>
            <a:ext cx="11094415" cy="58186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5585460"/>
            <a:ext cx="73152" cy="581863"/>
          </a:xfrm>
          <a:prstGeom prst="rect">
            <a:avLst/>
          </a:prstGeom>
          <a:solidFill>
            <a:srgbClr val="94A3B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2960" y="5585460"/>
            <a:ext cx="64008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1.6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554480" y="5585460"/>
            <a:ext cx="50292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Out-of-system consumer-app fraud (residual)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675120" y="5585460"/>
            <a:ext cx="45720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Word/IG/Canva/screenshot detection · DEMOTED to Phase 2 residual per Dickson's reframe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0728655" y="5699303"/>
            <a:ext cx="777240" cy="347853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728655" y="5699303"/>
            <a:ext cx="777240" cy="347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· PILLAR 02 · IDENTITY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AutoKon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.id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/ 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Identity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"Is the person submitting this who they claim to be?"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11094415" cy="6982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423160"/>
            <a:ext cx="73152" cy="698236"/>
          </a:xfrm>
          <a:prstGeom prst="rect">
            <a:avLst/>
          </a:prstGeom>
          <a:solidFill>
            <a:srgbClr val="22C55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423160"/>
            <a:ext cx="640080" cy="698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2.1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554480" y="2423160"/>
            <a:ext cx="5029200" cy="698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Phone-number binding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75120" y="2423160"/>
            <a:ext cx="4572000" cy="698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Phone whitelist · 2FA OTP · WhatsApp Business API · periodic re-auth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728655" y="2559771"/>
            <a:ext cx="777240" cy="41742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28655" y="2559771"/>
            <a:ext cx="777240" cy="417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SHIPPED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48640" y="3182112"/>
            <a:ext cx="11094415" cy="6982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182112"/>
            <a:ext cx="73152" cy="698236"/>
          </a:xfrm>
          <a:prstGeom prst="rect">
            <a:avLst/>
          </a:prstGeom>
          <a:solidFill>
            <a:srgbClr val="94A3B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182112"/>
            <a:ext cx="640080" cy="698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2.2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54480" y="3182112"/>
            <a:ext cx="5029200" cy="698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KTP-bound capture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75120" y="3182112"/>
            <a:ext cx="4572000" cy="698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Pak Jun #10 · per-session KTP holding photo + KYC partnership (Privy/Tilaka)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941064"/>
            <a:ext cx="11094415" cy="6982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41064"/>
            <a:ext cx="73152" cy="698236"/>
          </a:xfrm>
          <a:prstGeom prst="rect">
            <a:avLst/>
          </a:prstGeom>
          <a:solidFill>
            <a:srgbClr val="F7941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941064"/>
            <a:ext cx="640080" cy="698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2.3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54480" y="3941064"/>
            <a:ext cx="5029200" cy="698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Voice-print of Pelaksana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675120" y="3941064"/>
            <a:ext cx="4572000" cy="698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 OTP at session start · piggybacks on L0b audio fingerprint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0728655" y="4077675"/>
            <a:ext cx="777240" cy="417424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728655" y="4077675"/>
            <a:ext cx="777240" cy="417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NEW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48640" y="4700016"/>
            <a:ext cx="11094415" cy="6982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4700016"/>
            <a:ext cx="73152" cy="698236"/>
          </a:xfrm>
          <a:prstGeom prst="rect">
            <a:avLst/>
          </a:prstGeom>
          <a:solidFill>
            <a:srgbClr val="F7941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4700016"/>
            <a:ext cx="640080" cy="698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2.4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554480" y="4700016"/>
            <a:ext cx="5029200" cy="698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Liveness check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675120" y="4700016"/>
            <a:ext cx="4572000" cy="698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Passive + active liveness · WhatsApp-native KYC enrollment (Adrian's idea)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0728655" y="4836627"/>
            <a:ext cx="777240" cy="417424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728655" y="4836627"/>
            <a:ext cx="777240" cy="417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NEW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48640" y="5458968"/>
            <a:ext cx="11094415" cy="6982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5458968"/>
            <a:ext cx="73152" cy="698236"/>
          </a:xfrm>
          <a:prstGeom prst="rect">
            <a:avLst/>
          </a:prstGeom>
          <a:solidFill>
            <a:srgbClr val="F7941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5458968"/>
            <a:ext cx="640080" cy="698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2.5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554480" y="5458968"/>
            <a:ext cx="5029200" cy="698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Device attestation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675120" y="5458968"/>
            <a:ext cx="4572000" cy="698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Android Play Integrity · pairs with custom AutoKon camera app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728655" y="5595579"/>
            <a:ext cx="777240" cy="417424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728655" y="5595579"/>
            <a:ext cx="777240" cy="417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NEW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· PILLAR 03 · PLACE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AutoKon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.id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/ 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"Is this the actual unit it claims to be?"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11094415" cy="4987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423160"/>
            <a:ext cx="73152" cy="498740"/>
          </a:xfrm>
          <a:prstGeom prst="rect">
            <a:avLst/>
          </a:prstGeom>
          <a:solidFill>
            <a:srgbClr val="94A3B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423160"/>
            <a:ext cx="640080" cy="498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554480" y="2423160"/>
            <a:ext cx="5029200" cy="498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 GPS consistency (not accuracy)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75120" y="2423160"/>
            <a:ext cx="4572000" cy="498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Per-unit centroid clustering · pattern beats accuracy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965269"/>
            <a:ext cx="11094415" cy="4987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965269"/>
            <a:ext cx="73152" cy="498740"/>
          </a:xfrm>
          <a:prstGeom prst="rect">
            <a:avLst/>
          </a:prstGeom>
          <a:solidFill>
            <a:srgbClr val="22C55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2965269"/>
            <a:ext cx="640080" cy="498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54480" y="2965269"/>
            <a:ext cx="5029200" cy="498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site presence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75120" y="2965269"/>
            <a:ext cx="4572000" cy="498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Dickson's L0a + multi-point GPS sampling start/middle/end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728655" y="3062848"/>
            <a:ext cx="777240" cy="29816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728655" y="3062848"/>
            <a:ext cx="777240" cy="298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SHIPPED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48640" y="3507377"/>
            <a:ext cx="11094415" cy="4987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507377"/>
            <a:ext cx="73152" cy="498740"/>
          </a:xfrm>
          <a:prstGeom prst="rect">
            <a:avLst/>
          </a:prstGeom>
          <a:solidFill>
            <a:srgbClr val="22C55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507377"/>
            <a:ext cx="640080" cy="498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54480" y="3507377"/>
            <a:ext cx="5029200" cy="498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Video-photo GPS cross-reference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675120" y="3507377"/>
            <a:ext cx="4572000" cy="498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Dickson's L4 + temporal alignment + walk-path proximity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0728655" y="3604957"/>
            <a:ext cx="777240" cy="29816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728655" y="3604957"/>
            <a:ext cx="777240" cy="298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SHIPPED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48640" y="4049486"/>
            <a:ext cx="11094415" cy="4987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4049486"/>
            <a:ext cx="73152" cy="498740"/>
          </a:xfrm>
          <a:prstGeom prst="rect">
            <a:avLst/>
          </a:prstGeom>
          <a:solidFill>
            <a:srgbClr val="2563EB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4049486"/>
            <a:ext cx="640080" cy="498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554480" y="4049486"/>
            <a:ext cx="5029200" cy="498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Pre-construction baseline + drone reference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675120" y="4049486"/>
            <a:ext cx="4572000" cy="498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Smartphone 360° + drone (revived per Adrian — big devs already drone)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0728655" y="4147065"/>
            <a:ext cx="777240" cy="2981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728655" y="4147065"/>
            <a:ext cx="777240" cy="298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REVIVED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48640" y="4591594"/>
            <a:ext cx="11094415" cy="4987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4591594"/>
            <a:ext cx="73152" cy="498740"/>
          </a:xfrm>
          <a:prstGeom prst="rect">
            <a:avLst/>
          </a:prstGeom>
          <a:solidFill>
            <a:srgbClr val="94A3B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4591594"/>
            <a:ext cx="640080" cy="498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554480" y="4591594"/>
            <a:ext cx="5029200" cy="498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Project-level geo-tag (Pak Jun #11)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675120" y="4591594"/>
            <a:ext cx="4572000" cy="498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Bank inputs full address; system geocodes — respects Indonesian app convention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5133703"/>
            <a:ext cx="11094415" cy="4987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5133703"/>
            <a:ext cx="73152" cy="498740"/>
          </a:xfrm>
          <a:prstGeom prst="rect">
            <a:avLst/>
          </a:prstGeom>
          <a:solidFill>
            <a:srgbClr val="F7941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2960" y="5133703"/>
            <a:ext cx="640080" cy="498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3.6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554480" y="5133703"/>
            <a:ext cx="5029200" cy="498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Satellite imagery cross-check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675120" y="5133703"/>
            <a:ext cx="4572000" cy="498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Sentinel-2 free tier default · Planet Labs premium tier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0728655" y="5231282"/>
            <a:ext cx="777240" cy="298160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728655" y="5231282"/>
            <a:ext cx="777240" cy="298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NEW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48640" y="5675811"/>
            <a:ext cx="11094415" cy="4987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48640" y="5675811"/>
            <a:ext cx="73152" cy="498740"/>
          </a:xfrm>
          <a:prstGeom prst="rect">
            <a:avLst/>
          </a:prstGeom>
          <a:solidFill>
            <a:srgbClr val="F7941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22960" y="5675811"/>
            <a:ext cx="640080" cy="498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3.7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1554480" y="5675811"/>
            <a:ext cx="5029200" cy="498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Siteplan-relative cross-reference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6675120" y="5675811"/>
            <a:ext cx="4572000" cy="498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Pattern-matching against siteplan — Adrian's archipelago-reality insight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0728655" y="5773391"/>
            <a:ext cx="777240" cy="298160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728655" y="5773391"/>
            <a:ext cx="777240" cy="298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NEW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· PILLAR 04 · TIME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AutoKon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.id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 / 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"Was this captured now, not last week or recycled?"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11094415" cy="58186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423160"/>
            <a:ext cx="73152" cy="581863"/>
          </a:xfrm>
          <a:prstGeom prst="rect">
            <a:avLst/>
          </a:prstGeom>
          <a:solidFill>
            <a:srgbClr val="22C55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423160"/>
            <a:ext cx="64008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554480" y="2423160"/>
            <a:ext cx="50292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Audio fingerprint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75120" y="2423160"/>
            <a:ext cx="45720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Dickson's L0b · Shazam-style spectral upgrade · best single pitch sentence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728655" y="2537003"/>
            <a:ext cx="777240" cy="347853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28655" y="2537003"/>
            <a:ext cx="777240" cy="347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SHIPPED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48640" y="3055620"/>
            <a:ext cx="11094415" cy="58186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055620"/>
            <a:ext cx="73152" cy="581863"/>
          </a:xfrm>
          <a:prstGeom prst="rect">
            <a:avLst/>
          </a:prstGeom>
          <a:solidFill>
            <a:srgbClr val="22C55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055620"/>
            <a:ext cx="64008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54480" y="3055620"/>
            <a:ext cx="50292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 freshness + monotonic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75120" y="3055620"/>
            <a:ext cx="45720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Dickson's L5 · multi-modal time triangulation upgrade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728655" y="3169463"/>
            <a:ext cx="777240" cy="347853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728655" y="3169463"/>
            <a:ext cx="777240" cy="347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SHIPPED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48640" y="3688080"/>
            <a:ext cx="11094415" cy="58186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688080"/>
            <a:ext cx="73152" cy="581863"/>
          </a:xfrm>
          <a:prstGeom prst="rect">
            <a:avLst/>
          </a:prstGeom>
          <a:solidFill>
            <a:srgbClr val="94A3B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3688080"/>
            <a:ext cx="64008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54480" y="3688080"/>
            <a:ext cx="50292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Sun-angle / shadow consistency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3688080"/>
            <a:ext cx="45720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Astronomical math — 'we use physics to verify time' · pitch theater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4320540"/>
            <a:ext cx="11094415" cy="58186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4320540"/>
            <a:ext cx="73152" cy="581863"/>
          </a:xfrm>
          <a:prstGeom prst="rect">
            <a:avLst/>
          </a:prstGeom>
          <a:solidFill>
            <a:srgbClr val="94A3B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4320540"/>
            <a:ext cx="64008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554480" y="4320540"/>
            <a:ext cx="50292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Behavioral baseline per Pelaksana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675120" y="4320540"/>
            <a:ext cx="45720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Time-of-day · pace · linguistic · geographic · multi-factor composite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953000"/>
            <a:ext cx="11094415" cy="58186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4953000"/>
            <a:ext cx="73152" cy="581863"/>
          </a:xfrm>
          <a:prstGeom prst="rect">
            <a:avLst/>
          </a:prstGeom>
          <a:solidFill>
            <a:srgbClr val="F7941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4953000"/>
            <a:ext cx="64008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554480" y="4953000"/>
            <a:ext cx="50292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time anchor / public sealing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675120" y="4953000"/>
            <a:ext cx="45720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RFC 3161 TSA preferred over blockchain framing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0728655" y="5066843"/>
            <a:ext cx="777240" cy="347853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728655" y="5066843"/>
            <a:ext cx="777240" cy="347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NEW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5585460"/>
            <a:ext cx="11094415" cy="58186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5585460"/>
            <a:ext cx="73152" cy="581863"/>
          </a:xfrm>
          <a:prstGeom prst="rect">
            <a:avLst/>
          </a:prstGeom>
          <a:solidFill>
            <a:srgbClr val="F7941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2960" y="5585460"/>
            <a:ext cx="64008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4.6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554480" y="5585460"/>
            <a:ext cx="50292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Indonesian-context cross-correlation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675120" y="5585460"/>
            <a:ext cx="45720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BMKG weather · call-to-prayer · uniquely Indonesian moat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0728655" y="5699303"/>
            <a:ext cx="777240" cy="347853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728655" y="5699303"/>
            <a:ext cx="777240" cy="347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NEW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 · PILLAR 05 · CHAIN OF CUSTODY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AutoKon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.id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/ 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Chain of Custody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"Once evidence enters AutoKon, can it be tampered with?"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11094415" cy="58186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423160"/>
            <a:ext cx="73152" cy="581863"/>
          </a:xfrm>
          <a:prstGeom prst="rect">
            <a:avLst/>
          </a:prstGeom>
          <a:solidFill>
            <a:srgbClr val="22C55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423160"/>
            <a:ext cx="64008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5.1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554480" y="2423160"/>
            <a:ext cx="50292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Multi-step approval workflow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75120" y="2423160"/>
            <a:ext cx="45720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Pengawas → SM → PM · quorum-based for high-value · AI-assisted queue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728655" y="2537003"/>
            <a:ext cx="777240" cy="347853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28655" y="2537003"/>
            <a:ext cx="777240" cy="347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SHIPPED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48640" y="3055620"/>
            <a:ext cx="11094415" cy="58186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055620"/>
            <a:ext cx="73152" cy="581863"/>
          </a:xfrm>
          <a:prstGeom prst="rect">
            <a:avLst/>
          </a:prstGeom>
          <a:solidFill>
            <a:srgbClr val="F7941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055620"/>
            <a:ext cx="64008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5.2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54480" y="3055620"/>
            <a:ext cx="50292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Tamper-evident hash chain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75120" y="3055620"/>
            <a:ext cx="45720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Per-project Merkle tree · WORM storage = Phase-0 win, ships in a day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728655" y="3169463"/>
            <a:ext cx="777240" cy="347853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728655" y="3169463"/>
            <a:ext cx="777240" cy="347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NEW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48640" y="3688080"/>
            <a:ext cx="11094415" cy="58186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688080"/>
            <a:ext cx="73152" cy="581863"/>
          </a:xfrm>
          <a:prstGeom prst="rect">
            <a:avLst/>
          </a:prstGeom>
          <a:solidFill>
            <a:srgbClr val="F7941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3688080"/>
            <a:ext cx="64008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5.3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54480" y="3688080"/>
            <a:ext cx="50292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Periodic public sealing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3688080"/>
            <a:ext cx="45720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RFC 3161 TSA · independent third-party (Privy/Tilaka) · transparency log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728655" y="3801923"/>
            <a:ext cx="777240" cy="347853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728655" y="3801923"/>
            <a:ext cx="777240" cy="347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48640" y="4320540"/>
            <a:ext cx="11094415" cy="58186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4320540"/>
            <a:ext cx="73152" cy="581863"/>
          </a:xfrm>
          <a:prstGeom prst="rect">
            <a:avLst/>
          </a:prstGeom>
          <a:solidFill>
            <a:srgbClr val="94A3B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4320540"/>
            <a:ext cx="64008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5.4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554480" y="4320540"/>
            <a:ext cx="50292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 digital sign-off / witness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675120" y="4320540"/>
            <a:ext cx="45720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Dickson's exact ask — 'Saksi: Anda lihat hari ini? Ya/Tidak' · 10-min ship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4953000"/>
            <a:ext cx="11094415" cy="58186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4953000"/>
            <a:ext cx="73152" cy="581863"/>
          </a:xfrm>
          <a:prstGeom prst="rect">
            <a:avLst/>
          </a:prstGeom>
          <a:solidFill>
            <a:srgbClr val="F7941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4953000"/>
            <a:ext cx="64008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5.5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554480" y="4953000"/>
            <a:ext cx="50292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Cryptographic per-signer signing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675120" y="4953000"/>
            <a:ext cx="45720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PKI public registry · independently verifiable signatures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728655" y="5066843"/>
            <a:ext cx="777240" cy="347853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728655" y="5066843"/>
            <a:ext cx="777240" cy="347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NEW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48640" y="5585460"/>
            <a:ext cx="11094415" cy="58186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5585460"/>
            <a:ext cx="73152" cy="581863"/>
          </a:xfrm>
          <a:prstGeom prst="rect">
            <a:avLst/>
          </a:prstGeom>
          <a:solidFill>
            <a:srgbClr val="F7941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22960" y="5585460"/>
            <a:ext cx="64008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5.6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554480" y="5585460"/>
            <a:ext cx="50292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Immutable audit log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675120" y="5585460"/>
            <a:ext cx="4572000" cy="581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 temporal tables · WAL export to immutable storage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0728655" y="5699303"/>
            <a:ext cx="777240" cy="347853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728655" y="5699303"/>
            <a:ext cx="777240" cy="347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NEW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· PILLAR 06 · INDEPENDENT VERIFICATION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AutoKon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.id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 / 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Independent Verification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"Do you ever rely on something other than your own software?"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11094415" cy="6982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423160"/>
            <a:ext cx="73152" cy="698236"/>
          </a:xfrm>
          <a:prstGeom prst="rect">
            <a:avLst/>
          </a:prstGeom>
          <a:solidFill>
            <a:srgbClr val="94A3B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423160"/>
            <a:ext cx="640080" cy="698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6.1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554480" y="2423160"/>
            <a:ext cx="5029200" cy="698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KJPP physical inspection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75120" y="2423160"/>
            <a:ext cx="4572000" cy="698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AutoKon-routed triggers using Dickson's tier classification — flagship pitch line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182112"/>
            <a:ext cx="11094415" cy="6982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182112"/>
            <a:ext cx="73152" cy="698236"/>
          </a:xfrm>
          <a:prstGeom prst="rect">
            <a:avLst/>
          </a:prstGeom>
          <a:solidFill>
            <a:srgbClr val="2563EB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182112"/>
            <a:ext cx="640080" cy="698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6.2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54480" y="3182112"/>
            <a:ext cx="5029200" cy="698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RT/RW or Lurah witness signature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75120" y="3182112"/>
            <a:ext cx="4572000" cy="698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Uniquely Indonesian — no US/EU competitor would think of this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728655" y="3318723"/>
            <a:ext cx="777240" cy="41742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728655" y="3318723"/>
            <a:ext cx="777240" cy="417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REVIVED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48640" y="3941064"/>
            <a:ext cx="11094415" cy="6982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41064"/>
            <a:ext cx="73152" cy="698236"/>
          </a:xfrm>
          <a:prstGeom prst="rect">
            <a:avLst/>
          </a:prstGeom>
          <a:solidFill>
            <a:srgbClr val="94A3B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941064"/>
            <a:ext cx="640080" cy="698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6.3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54480" y="3941064"/>
            <a:ext cx="5029200" cy="698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Satellite imagery cross-check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675120" y="3941064"/>
            <a:ext cx="4572000" cy="698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Cross-listed with Pillar 3 · 'EU Space Agency Sentinel-2'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4700016"/>
            <a:ext cx="11094415" cy="6982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4700016"/>
            <a:ext cx="73152" cy="698236"/>
          </a:xfrm>
          <a:prstGeom prst="rect">
            <a:avLst/>
          </a:prstGeom>
          <a:solidFill>
            <a:srgbClr val="94A3B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4700016"/>
            <a:ext cx="640080" cy="698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6.4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54480" y="4700016"/>
            <a:ext cx="5029200" cy="698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Drone overflight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675120" y="4700016"/>
            <a:ext cx="4572000" cy="698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Cross-listed with Pillar 3 · developer-supplied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5458968"/>
            <a:ext cx="11094415" cy="6982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5458968"/>
            <a:ext cx="73152" cy="698236"/>
          </a:xfrm>
          <a:prstGeom prst="rect">
            <a:avLst/>
          </a:prstGeom>
          <a:solidFill>
            <a:srgbClr val="F7941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458968"/>
            <a:ext cx="640080" cy="698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6.5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554480" y="5458968"/>
            <a:ext cx="5029200" cy="698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 third-party signing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675120" y="5458968"/>
            <a:ext cx="4572000" cy="698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Privy/eMeterai · same e-sign as bank's KYC team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0728655" y="5595579"/>
            <a:ext cx="777240" cy="417424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728655" y="5595579"/>
            <a:ext cx="777240" cy="417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NEW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 · TWO CROSS-CUTTING LENSES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AutoKon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.id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 / 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spc="-100" kern="0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Threat motivation × tech-savviness — the 2x2 that organizes priority.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8745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Indonesian fraud is low-tech with high motivation, not the cybersecurity-textbook profile. This shapes ship priority.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371600" y="2423160"/>
            <a:ext cx="94183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80760" y="2423160"/>
            <a:ext cx="0" cy="3657600"/>
          </a:xfrm>
          <a:prstGeom prst="line">
            <a:avLst/>
          </a:prstGeom>
          <a:noFill/>
          <a:ln w="12700">
            <a:solidFill>
              <a:srgbClr val="CBD5E1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371600" y="4251960"/>
            <a:ext cx="941832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371600" y="612648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0" kern="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LOW MOTIVATION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080760" y="612648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0" kern="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HIGH MOTIVATION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554480" y="2606040"/>
            <a:ext cx="4343400" cy="146304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691640" y="274320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400" kern="0" dirty="0">
                <a:solidFill>
                  <a:srgbClr val="3341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TECH-SAVVY × LOW MOTIVATION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691640" y="31089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Cryptographic forgery · Insider attack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(Pillar 5 — audit-grade defense)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63640" y="2606040"/>
            <a:ext cx="4343400" cy="146304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274320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400" kern="0" dirty="0">
                <a:solidFill>
                  <a:srgbClr val="3341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TECH-SAVVY × HIGH MOTIVATION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6400800" y="31089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AI-generated photos · Deepfake video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(Pillar 1.4 — name in pitch)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554480" y="4434840"/>
            <a:ext cx="4343400" cy="146304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691640" y="457200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400" kern="0" dirty="0">
                <a:solidFill>
                  <a:srgbClr val="3341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LOW-TECH × LOW MOTIVATION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691640" y="49377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Sub-hour time-shift · Weather inconsistency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(Pillar 4 Tier C — deprioritize)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63640" y="4434840"/>
            <a:ext cx="4343400" cy="1463040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0" y="457200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4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★ LOW-TECH × HIGH MOTIVATION ★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400800" y="49377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Word export · IG Story · screenshots · adjacent-unit · recycling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(Pillars 1.1, 1.6, 3.1 — VOLUME OF FRAUD)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 · THE INDONESIAN MOAT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AutoKon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.id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 / 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spc="-150" kern="0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Engineered for Indonesian field reality.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US/EU competitor would think to build any of these. They're the differentiation banks remember.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357621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5603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7941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77240" y="2971800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Equatorial sun-angle math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3429000"/>
            <a:ext cx="3119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Sun moves ~15°/hour at equator vs ~7° in mid-latitudes. Indonesia is uniquely sensitive to time-shift.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07738" y="2377440"/>
            <a:ext cx="357621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36338" y="25603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7941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536338" y="2971800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Call-to-prayer (azan) cross-check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36338" y="3429000"/>
            <a:ext cx="3119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azan is in walk-around audio, cross-reference muezzin schedule for that GPS.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66837" y="2377440"/>
            <a:ext cx="357621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95437" y="25603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7941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295437" y="2971800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BMKG weather correlation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95437" y="3429000"/>
            <a:ext cx="3119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Cross-check claimed weather against Indonesian Meteorological Agency feed.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343400"/>
            <a:ext cx="357621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5262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7941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77240" y="4937760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RT/RW witness signatures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77240" y="5394960"/>
            <a:ext cx="3119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Indonesian governance officials witness milestones — community-rooted independence.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07738" y="4343400"/>
            <a:ext cx="357621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36338" y="45262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7941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536338" y="4937760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Low-tech consumer-app fraud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36338" y="5394960"/>
            <a:ext cx="3119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Catch Word export, IG Story, screenshots — what Indonesian fraudsters actually do.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066837" y="4343400"/>
            <a:ext cx="357621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95437" y="45262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7941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8295437" y="4937760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Siteplan-relative GPS pattern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295437" y="5394960"/>
            <a:ext cx="3119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Pattern beats accuracy — designed for archipelago-reality GPS infrastructure.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 · PHASE 0 — IMMEDIATE WINS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0362895" y="292608"/>
            <a:ext cx="1280160" cy="32918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62895" y="29260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PHASE 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AutoKon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.id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 / 18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9144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spc="-15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 in days. Highest leverage.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48640" y="18288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Items that defend against the high-motivation high-volume Indonesian fraud profile, with zero or near-zero engineering cost.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606040"/>
            <a:ext cx="3576218" cy="1874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8892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1.6 A–D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324612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Low-tech fraud detectors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3703320"/>
            <a:ext cx="30275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JPEG-quantization, IG-Story, screenshot, photo-of-screen — catches the dominant Indonesian fraud profile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07738" y="2606040"/>
            <a:ext cx="3576218" cy="1874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82058" y="278892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5.2 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82058" y="324612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WORM storage config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82058" y="3703320"/>
            <a:ext cx="30275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 config change. Ships in a day. 'Even AutoKon admins cannot delete evidence.'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66837" y="2606040"/>
            <a:ext cx="3576218" cy="1874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41157" y="278892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5.4 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41157" y="324612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Botpress witness prompt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341157" y="3703320"/>
            <a:ext cx="30275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10-minute flow change. Forces SM legal-grade attestation.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4663440"/>
            <a:ext cx="3576218" cy="1874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84632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3.7 A+B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2960" y="530352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Centroid + siteplan pattern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22960" y="5760720"/>
            <a:ext cx="30275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Adrian's pattern-beats-accuracy insight. Fixes adjacent-unit confusion in a way Indonesian GPS can support.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07738" y="4663440"/>
            <a:ext cx="3576218" cy="1874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82058" y="484632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4.1 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82058" y="530352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Spectral fingerprint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582058" y="5760720"/>
            <a:ext cx="30275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Shazam-style upgrade to existing audio fingerprint. Defeats re-encoding attacks.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66837" y="4663440"/>
            <a:ext cx="3576218" cy="1874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41157" y="484632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6.1 B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341157" y="530352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AutoKon-routed KJPP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341157" y="5760720"/>
            <a:ext cx="30275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Uses existing tier classification. 'Software pre-screens, KJPP inspects what software flags.'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 · PHASE 1 — PILOT-30 COMMITMENTS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0362895" y="292608"/>
            <a:ext cx="1280160" cy="329184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62895" y="29260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PILOT-30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AutoKon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.id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/ 18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spc="-150" kern="0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 in 30 days from first signed pilot.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548640" y="18288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Premium-tier features the first signed bank pilot funds. Public commitment with audit-grade legal weight.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697480"/>
            <a:ext cx="11094415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97480"/>
            <a:ext cx="73152" cy="594360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69748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7941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IDENTITY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40280" y="2697480"/>
            <a:ext cx="93113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KTP-bound capture (Pak Jun #10) · KYC partnership (Privy/Tilaka) · WhatsApp-native KYC enrollment · liveness via vendor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410712"/>
            <a:ext cx="11094415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410712"/>
            <a:ext cx="73152" cy="594360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410712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7941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PLACE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240280" y="3410712"/>
            <a:ext cx="93113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Drone fly-over ingest from developer's existing drone · Planet Labs satellite (premium tier)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23944"/>
            <a:ext cx="11094415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123944"/>
            <a:ext cx="73152" cy="594360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123944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7941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TIME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240280" y="4123944"/>
            <a:ext cx="93113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RFC 3161 TSA public sealing · BMKG weather correlation · call-to-prayer cross-check · multi-segment audio fingerprint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4837176"/>
            <a:ext cx="11094415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837176"/>
            <a:ext cx="73152" cy="594360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837176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7941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CUSTODY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240280" y="4837176"/>
            <a:ext cx="93113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Per-project Merkle tree · per-unit hash chain · RFC 3161 sealing · PKI public registry · audit log with hash links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5550408"/>
            <a:ext cx="11094415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5550408"/>
            <a:ext cx="73152" cy="594360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5550408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7941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INDEPENDENT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240280" y="5550408"/>
            <a:ext cx="93113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RT/RW witness signature · Privy/eMeterai third-party signing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· PHASE 2 + ROADMAP RESERVE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AutoKon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.id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 / 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Roadmap-named, observed-attack-driven shipping.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Named in the pitch for credibility, but engineered only when real-world fraud data justifies the investment.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5364328" cy="4023360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74320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3341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PHASE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3108960"/>
            <a:ext cx="463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Future-tier features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14400" y="374904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C2PA content credentials · waits for Pelaksana phone fleet upgrade ~2027+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14400" y="406908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Android Play Integrity · requires custom AutoKon camera app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14400" y="438912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Mobile-device-bound keys · custom-app pairing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14400" y="470916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HSM keys · operational hardening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14400" y="502920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Database WAL export · deeper protection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14400" y="534924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Event-sourcing architecture · significant rewrite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14400" y="566928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PRNU sensor fingerprint · theoretical for Indonesian field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14400" y="598932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Bitcoin/Ethereum sealing · only when audience wants blockchain framing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78728" y="2468880"/>
            <a:ext cx="5364328" cy="4023360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6644488" y="274320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47556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ROADMAP RESERVE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644488" y="3108960"/>
            <a:ext cx="463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Defer until observed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644488" y="374904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Advanced AI-generation defeats — until real attack observed in pilot data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644488" y="411480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VFX video forgery — until observed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644488" y="448056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Cross-modality consistent forgery — until observed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644488" y="4846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Rooted-device sophisticated bypass — until observed at scale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644488" y="52120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644488" y="557784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These items live in the pitch as 'we have the architectural framework to add these when threats emerge,'  not as committed delivery.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 · PITCH LANGUAGE REFERENCE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AutoKon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.id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17 / 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actual sentences for the bank pitch deck.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371600" cy="4572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9659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AUTHENTICITY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103120" y="1965960"/>
            <a:ext cx="9539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"We screen every photo against state-of-the-art AI-generation detectors — the same techniques used to catch the JAKI Pemprov DKI Gemini-watermark scandal in 2025."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532888"/>
            <a:ext cx="1371600" cy="4572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5328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AUTHENTICITY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103120" y="2532888"/>
            <a:ext cx="9539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"We catch the Microsoft-Word-export trick. We catch the Instagram Story overlay trick. We catch screenshots. We've engineered for what Indonesian fraudsters actually do."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099816"/>
            <a:ext cx="1371600" cy="457200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09981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IDENTITY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103120" y="3099816"/>
            <a:ext cx="9539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"Bank-PIC signatures go through Privy / eMeterai — the same e-signature infrastructure your KYC team uses."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3666744"/>
            <a:ext cx="1371600" cy="457200"/>
          </a:xfrm>
          <a:prstGeom prst="rect">
            <a:avLst/>
          </a:prstGeom>
          <a:solidFill>
            <a:srgbClr val="FF7426"/>
          </a:solidFill>
          <a:ln w="12700">
            <a:solidFill>
              <a:srgbClr val="FF74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66674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PLACE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103120" y="3666744"/>
            <a:ext cx="9539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"We don't claim perfect GPS coordinates — Indonesia's archipelago infrastructure makes that impossible. We claim 1000 units have 1000 distinct GPS signatures matching the siteplan layout."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233672"/>
            <a:ext cx="1371600" cy="4572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2336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TIME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103120" y="4233672"/>
            <a:ext cx="9539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"Our audio fingerprint catches recycled videos using the same forensic technique Shazam uses to identify songs."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4800600"/>
            <a:ext cx="1371600" cy="4572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48006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TIME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103120" y="4800600"/>
            <a:ext cx="9539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"If the call to prayer is audible in the walk-around video, our system verifies it matches the muezzin schedule for that location."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367528"/>
            <a:ext cx="1371600" cy="4572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3675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CUSTODY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103120" y="5367528"/>
            <a:ext cx="9539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"All evidence files are stored on Write-Once-Read-Many infrastructure. Even AutoKon admins cannot delete or overwrite evidence."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5934456"/>
            <a:ext cx="1371600" cy="45720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593445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INDEPENDENT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103120" y="5934456"/>
            <a:ext cx="9539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"AutoKon makes KJPP 10x more focused. Software pre-screens; KJPP inspects what software flags as risky."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17 · CLOSE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18 / 18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spc="-20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takeaways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spc="-200" kern="0" dirty="0">
                <a:solidFill>
                  <a:srgbClr val="F7941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the bank.</a:t>
            </a:r>
            <a:endParaRPr lang="en-US" sz="64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0"/>
            <a:ext cx="5364328" cy="2743200"/>
          </a:xfrm>
          <a:prstGeom prst="rect">
            <a:avLst/>
          </a:prstGeom>
          <a:solidFill>
            <a:srgbClr val="1E293B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520440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14400" y="4114800"/>
            <a:ext cx="46328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AutoKon is engineered for Indonesian field reality.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4632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Equatorial sun-angle math · BMKG weather feeds · call-to-prayer audio cross-check · RT/RW witness signatures · low-tech consumer-app fraud detectors · siteplan-relative GPS pattern matching. No US/EU competitor would build any of these.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78728" y="3200400"/>
            <a:ext cx="5364328" cy="2743200"/>
          </a:xfrm>
          <a:prstGeom prst="rect">
            <a:avLst/>
          </a:prstGeom>
          <a:solidFill>
            <a:srgbClr val="1E293B"/>
          </a:solidFill>
          <a:ln w="25400">
            <a:solidFill>
              <a:srgbClr val="F7941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44488" y="3520440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7941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644488" y="4114800"/>
            <a:ext cx="46328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AutoKon makes the inspector 10x more focused.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644488" y="5074920"/>
            <a:ext cx="4632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Software catches ~80% of realistic fraud volume deterministically. The residual 20% is structurally chain-of-custody — KJPP at draw milestones, already part of how Indonesian banks operate. Software pre-screens; KJPP inspects what software flags.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AutoKon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18 · OPEN QUESTIONS FOR DECISION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AutoKon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.id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 / 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0F1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Eight decisions before engineering proceeds.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2249424"/>
            <a:ext cx="365760" cy="3657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2494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219456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custom AutoKon camera app on the table for PILOT-30? (Resolves Items 1.5B + 2.5A together)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752344"/>
            <a:ext cx="365760" cy="3657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269748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KYC partnership selection: Privy vs Tilaka vs Sumsub vs Veriff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255264"/>
            <a:ext cx="365760" cy="3657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255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32004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Sentinel-2 free vs Planet Labs paid for Phase 0 satellite imagery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758184"/>
            <a:ext cx="365760" cy="3657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7581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97280" y="3703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OpenTimestamps blockchain vs RFC 3161 TSA for public sealing language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261104"/>
            <a:ext cx="365760" cy="3657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97280" y="420624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WORM storage migration on Supabase — engineering Phase-0 immediate win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764024"/>
            <a:ext cx="365760" cy="3657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4764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470916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Drone overflight ingest format standardization with developers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5266944"/>
            <a:ext cx="365760" cy="3657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2669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97280" y="521208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Tier-3 review queue SLA (Dickson's open question 6)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5769864"/>
            <a:ext cx="365760" cy="3657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5769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97280" y="57150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RT/RW witness program scope and honoraria budget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 · END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 / 18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spc="-20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pillars,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spc="-200" kern="0" dirty="0">
                <a:solidFill>
                  <a:srgbClr val="F7941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thirty-five</a:t>
            </a:r>
            <a:pPr indent="0" marL="0">
              <a:buNone/>
            </a:pPr>
            <a:r>
              <a:rPr lang="en-US" sz="6400" b="1" spc="-20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items,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spc="-20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</a:t>
            </a:r>
            <a:pPr indent="0" marL="0">
              <a:buNone/>
            </a:pPr>
            <a:r>
              <a:rPr lang="en-US" sz="6400" b="1" spc="-200" kern="0" dirty="0">
                <a:solidFill>
                  <a:srgbClr val="2563E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verifiable</a:t>
            </a:r>
            <a:pPr indent="0" marL="0">
              <a:buNone/>
            </a:pPr>
            <a:r>
              <a:rPr lang="en-US" sz="6400" b="1" spc="-20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bank pitch.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548640" y="5212080"/>
            <a:ext cx="3698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FULL BRIEF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5504688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94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EVIDENCE_INTEGRITY_RESEARCH.md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246778" y="5212080"/>
            <a:ext cx="3698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INTERACTIVE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246778" y="5504688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index.html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44917" y="5212080"/>
            <a:ext cx="3698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AUTHORS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944917" y="5504688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Adrian + Claude Cowork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AutoKon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.id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AutoKon — Evidence Integrity R&amp;D Brief — Summary</dc:title>
  <dc:subject>PptxGenJS Presentation</dc:subject>
  <dc:creator>Adrian + Claude Cowork</dc:creator>
  <cp:lastModifiedBy>Adrian + Claude Cowork</cp:lastModifiedBy>
  <cp:revision>1</cp:revision>
  <dcterms:created xsi:type="dcterms:W3CDTF">2026-05-05T06:23:42Z</dcterms:created>
  <dcterms:modified xsi:type="dcterms:W3CDTF">2026-05-05T06:23:42Z</dcterms:modified>
</cp:coreProperties>
</file>